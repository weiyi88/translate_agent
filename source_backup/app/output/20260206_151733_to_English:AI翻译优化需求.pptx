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67" r:id="rId3"/>
    <p:sldId id="257" r:id="rId5"/>
    <p:sldId id="268" r:id="rId6"/>
    <p:sldId id="262" r:id="rId7"/>
    <p:sldId id="269" r:id="rId8"/>
    <p:sldId id="260" r:id="rId9"/>
    <p:sldId id="270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寰宇" initials="刘寰宇" lastIdx="1" clrIdx="0"/>
  <p:cmAuthor id="2" name="13785" initials="1" lastIdx="1" clrIdx="1"/>
  <p:cmAuthor id="3" name="惠文 邓" initials="惠文" lastIdx="2" clrIdx="2"/>
  <p:cmAuthor id="0" name="gw0400395" initials="g" lastIdx="0" clrIdx="0"/>
  <p:cmAuthor id="226" name="薛飞飞" initials="薛" lastIdx="4" clrIdx="199"/>
  <p:cmAuthor id="4" name="杨 文" initials="杨" lastIdx="2" clrIdx="3"/>
  <p:cmAuthor id="227" name="未知用户146" initials="未" lastIdx="1" clrIdx="0"/>
  <p:cmAuthor id="5" name="skylersun(孙莉)" initials="s" lastIdx="1" clrIdx="0"/>
  <p:cmAuthor id="6" name="高慰" initials="高" lastIdx="1" clrIdx="0"/>
  <p:cmAuthor id="7" name="User" initials="U" lastIdx="1" clrIdx="0"/>
  <p:cmAuthor id="230" name="Lin, Yongchuan" initials="L" lastIdx="1" clrIdx="0"/>
  <p:cmAuthor id="8" name="王慧琳" initials="王慧琳" lastIdx="1" clrIdx="3"/>
  <p:cmAuthor id="231" name="张金玉" initials="张" lastIdx="1" clrIdx="0"/>
  <p:cmAuthor id="9" name="王闰" initials="王闰" lastIdx="3" clrIdx="4"/>
  <p:cmAuthor id="10" name="office user" initials="ou" lastIdx="1" clrIdx="5"/>
  <p:cmAuthor id="233" name="永平 李" initials="永" lastIdx="1" clrIdx="4"/>
  <p:cmAuthor id="11" name="koala" initials="k" lastIdx="1" clrIdx="10"/>
  <p:cmAuthor id="12" name="nine" initials="n" lastIdx="1" clrIdx="0"/>
  <p:cmAuthor id="13" name="王志刚" initials="王" lastIdx="1" clrIdx="0"/>
  <p:cmAuthor id="236" name="贾红喜" initials="贾" lastIdx="4" clrIdx="0"/>
  <p:cmAuthor id="14" name="10277" initials="1" lastIdx="1" clrIdx="13"/>
  <p:cmAuthor id="237" name="宋志强" initials="宋志强" lastIdx="1" clrIdx="236"/>
  <p:cmAuthor id="15" name="徐杰" initials="徐" lastIdx="1" clrIdx="0"/>
  <p:cmAuthor id="238" name="张成真" initials="张" lastIdx="1" clrIdx="0"/>
  <p:cmAuthor id="16" name="王明明" initials="王" lastIdx="3" clrIdx="0"/>
  <p:cmAuthor id="17" name="王向羽" initials="王" lastIdx="1" clrIdx="0"/>
  <p:cmAuthor id="240" name="????" initials="?" lastIdx="24" clrIdx="3"/>
  <p:cmAuthor id="18" name="叶得会" initials="叶" lastIdx="8" clrIdx="0"/>
  <p:cmAuthor id="241" name="萧然" initials="萧" lastIdx="1" clrIdx="37"/>
  <p:cmAuthor id="19" name="Qingyunli" initials="Q" lastIdx="24" clrIdx="0"/>
  <p:cmAuthor id="20" name="徐光宇" initials="徐" lastIdx="1" clrIdx="0"/>
  <p:cmAuthor id="243" name="余志宝" initials="余" lastIdx="1" clrIdx="126"/>
  <p:cmAuthor id="21" name="mac" initials="m" lastIdx="1" clrIdx="0"/>
  <p:cmAuthor id="244" name="张大海" initials="张" lastIdx="1" clrIdx="0"/>
  <p:cmAuthor id="22" name="Liu, Leo (MBSHR cs)" initials="L" lastIdx="2" clrIdx="0"/>
  <p:cmAuthor id="245" name="王向妮" initials="王向妮" lastIdx="5" clrIdx="244"/>
  <p:cmAuthor id="23" name="刘豹" initials="刘" lastIdx="0" clrIdx="0"/>
  <p:cmAuthor id="246" name="Azfar Mir" initials="A" lastIdx="130" clrIdx="0"/>
  <p:cmAuthor id="24" name="未知用户4" initials="未" lastIdx="1" clrIdx="1"/>
  <p:cmAuthor id="247" name="蔡江林" initials="蔡" lastIdx="2" clrIdx="27"/>
  <p:cmAuthor id="25" name="刘广艳" initials="刘" lastIdx="10" clrIdx="1"/>
  <p:cmAuthor id="248" name="周平" initials="周" lastIdx="0" clrIdx="0"/>
  <p:cmAuthor id="26" name="未知用户1" initials="未" lastIdx="10" clrIdx="1"/>
  <p:cmAuthor id="27" name="dell" initials="d" lastIdx="1" clrIdx="0"/>
  <p:cmAuthor id="250" name="王伟" initials="王" lastIdx="494" clrIdx="2"/>
  <p:cmAuthor id="28" name="丁芙蓉" initials="丁" lastIdx="4" clrIdx="1"/>
  <p:cmAuthor id="251" name="姜亚荣" initials="姜" lastIdx="778" clrIdx="3"/>
  <p:cmAuthor id="29" name="邹积逊" initials="邹" lastIdx="1" clrIdx="0"/>
  <p:cmAuthor id="252" name="杨晶" initials="杨" lastIdx="26" clrIdx="0"/>
  <p:cmAuthor id="30" name="杜娇龙" initials="杜" lastIdx="2" clrIdx="1"/>
  <p:cmAuthor id="253" name="王景红" initials="王" lastIdx="6" clrIdx="3"/>
  <p:cmAuthor id="31" name="未知用户6" initials="未" lastIdx="7" clrIdx="0"/>
  <p:cmAuthor id="32" name="未知用户5" initials="未" lastIdx="34" clrIdx="1"/>
  <p:cmAuthor id="33" name="未知用户7" initials="未" lastIdx="1" clrIdx="0"/>
  <p:cmAuthor id="34" name="yangyanxia" initials="y" lastIdx="1" clrIdx="0"/>
  <p:cmAuthor id="35" name="刘春辉" initials="刘" lastIdx="4" clrIdx="28"/>
  <p:cmAuthor id="36" name="赵兰玉" initials="赵" lastIdx="1" clrIdx="0"/>
  <p:cmAuthor id="259" name="fgx" initials="f" lastIdx="6" clrIdx="6"/>
  <p:cmAuthor id="37" name="acer1" initials="a" lastIdx="1" clrIdx="35"/>
  <p:cmAuthor id="260" name="郑汝鸿" initials="郑" lastIdx="2" clrIdx="0"/>
  <p:cmAuthor id="38" name="仝德志" initials="仝" lastIdx="1" clrIdx="0"/>
  <p:cmAuthor id="261" name="杨秀丰" initials="杨" lastIdx="62" clrIdx="2"/>
  <p:cmAuthor id="39" name="马静" initials="马" lastIdx="0" clrIdx="0"/>
  <p:cmAuthor id="262" name="惠莲" initials="惠" lastIdx="37" clrIdx="4"/>
  <p:cmAuthor id="40" name="未知" initials="未" lastIdx="1" clrIdx="0"/>
  <p:cmAuthor id="263" name="邢辰凤" initials="邢" lastIdx="45" clrIdx="7"/>
  <p:cmAuthor id="41" name="范作霖" initials="范" lastIdx="1" clrIdx="22"/>
  <p:cmAuthor id="264" name="liang ma" initials="l" lastIdx="1" clrIdx="35"/>
  <p:cmAuthor id="42" name="吴军" initials="吴" lastIdx="1" clrIdx="0"/>
  <p:cmAuthor id="265" name="宋俭" initials="宋" lastIdx="1" clrIdx="36"/>
  <p:cmAuthor id="43" name="dingbo" initials="d" lastIdx="1" clrIdx="0"/>
  <p:cmAuthor id="266" name="马伟媛" initials="马伟媛" lastIdx="2" clrIdx="200"/>
  <p:cmAuthor id="44" name="李永欣" initials="李" lastIdx="1" clrIdx="0"/>
  <p:cmAuthor id="267" name="王忠彬" initials="王忠彬" lastIdx="1" clrIdx="245"/>
  <p:cmAuthor id="45" name="番茄花园" initials="番" lastIdx="1" clrIdx="0"/>
  <p:cmAuthor id="46" name="evil" initials="e" lastIdx="0" clrIdx="0"/>
  <p:cmAuthor id="47" name="许弘扬" initials="许" lastIdx="1" clrIdx="0"/>
  <p:cmAuthor id="48" name="赵琦" initials="赵" lastIdx="4" clrIdx="1"/>
  <p:cmAuthor id="49" name="未知用户8" initials="未" lastIdx="1" clrIdx="0"/>
  <p:cmAuthor id="50" name="未知用户9" initials="未" lastIdx="1" clrIdx="0"/>
  <p:cmAuthor id="51" name="USER" initials="U" lastIdx="18" clrIdx="0"/>
  <p:cmAuthor id="52" name="未知用户17" initials="未" lastIdx="1" clrIdx="1"/>
  <p:cmAuthor id="53" name="未知用户18" initials="未" lastIdx="1" clrIdx="0"/>
  <p:cmAuthor id="54" name="未知用户20" initials="未" lastIdx="1" clrIdx="0"/>
  <p:cmAuthor id="55" name="未知用户19" initials="未" lastIdx="1" clrIdx="0"/>
  <p:cmAuthor id="56" name="未知用户21" initials="未" lastIdx="1" clrIdx="0"/>
  <p:cmAuthor id="57" name="未知用户14" initials="未" lastIdx="1" clrIdx="0"/>
  <p:cmAuthor id="58" name="未知用户15" initials="未" lastIdx="1" clrIdx="0"/>
  <p:cmAuthor id="59" name="未知用户16" initials="未" lastIdx="4" clrIdx="0"/>
  <p:cmAuthor id="60" name="郝崇" initials="郝" lastIdx="4" clrIdx="1"/>
  <p:cmAuthor id="61" name="吴杰" initials="吴" lastIdx="1" clrIdx="0"/>
  <p:cmAuthor id="62" name="刘丽仙" initials="刘" lastIdx="4" clrIdx="33"/>
  <p:cmAuthor id="63" name="陶川" initials="陶" lastIdx="1" clrIdx="0"/>
  <p:cmAuthor id="64" name="lijin" initials="l" lastIdx="33" clrIdx="0"/>
  <p:cmAuthor id="65" name="gtmc" initials="g" lastIdx="0" clrIdx="0"/>
  <p:cmAuthor id="66" name="chunsong_hu" initials="c" lastIdx="0" clrIdx="0"/>
  <p:cmAuthor id="67" name="未知用户23" initials="未" lastIdx="1" clrIdx="1"/>
  <p:cmAuthor id="68" name="未知用户24" initials="未" lastIdx="1" clrIdx="0"/>
  <p:cmAuthor id="69" name="未知用户25" initials="未" lastIdx="1" clrIdx="0"/>
  <p:cmAuthor id="70" name="未知用户26" initials="未" lastIdx="1" clrIdx="0"/>
  <p:cmAuthor id="71" name="未知用户27" initials="未" lastIdx="1" clrIdx="0"/>
  <p:cmAuthor id="72" name="未知用户28" initials="未" lastIdx="1" clrIdx="0"/>
  <p:cmAuthor id="73" name="未知用户29" initials="未" lastIdx="1" clrIdx="0"/>
  <p:cmAuthor id="74" name="未知用户30" initials="未" lastIdx="4" clrIdx="0"/>
  <p:cmAuthor id="75" name="作者" initials="A" lastIdx="0" clrIdx="24"/>
  <p:cmAuthor id="76" name="Lenovo User" initials="L" lastIdx="1" clrIdx="0"/>
  <p:cmAuthor id="77" name="hys2" initials="h" lastIdx="1" clrIdx="0"/>
  <p:cmAuthor id="78" name="朱绍春" initials="朱" lastIdx="13" clrIdx="0"/>
  <p:cmAuthor id="79" name="邹洋" initials="邹" lastIdx="2" clrIdx="0"/>
  <p:cmAuthor id="80" name="孟祥超" initials="孟" lastIdx="2" clrIdx="1"/>
  <p:cmAuthor id="81" name="贡鑫" initials="贡" lastIdx="2" clrIdx="0"/>
  <p:cmAuthor id="82" name="administrator1" initials="a" lastIdx="16" clrIdx="2"/>
  <p:cmAuthor id="83" name="杜雪梅" initials="杜" lastIdx="1" clrIdx="0"/>
  <p:cmAuthor id="84" name="包珊珊" initials="包" lastIdx="7" clrIdx="23"/>
  <p:cmAuthor id="85" name="叶滔" initials="叶" lastIdx="1" clrIdx="31"/>
  <p:cmAuthor id="86" name="LEO L" initials="L" lastIdx="1" clrIdx="0"/>
  <p:cmAuthor id="87" name="朱悦龙" initials="朱" lastIdx="1" clrIdx="0"/>
  <p:cmAuthor id="88" name="吴铁映" initials="吴" lastIdx="1" clrIdx="34"/>
  <p:cmAuthor id="89" name="Yuan Yuan" initials="Y" lastIdx="1" clrIdx="0"/>
  <p:cmAuthor id="90" name="ZQ" initials="Z" lastIdx="26" clrIdx="0"/>
  <p:cmAuthor id="91" name="HYZL05" initials="H" lastIdx="4" clrIdx="3"/>
  <p:cmAuthor id="92" name="陈尚文" initials="陈" lastIdx="1" clrIdx="1"/>
  <p:cmAuthor id="93" name="张宏伟" initials="张" lastIdx="46" clrIdx="0"/>
  <p:cmAuthor id="94" name="Yuan Hu" initials="Y" lastIdx="1" clrIdx="0"/>
  <p:cmAuthor id="95" name="张静" initials="张" lastIdx="9" clrIdx="0"/>
  <p:cmAuthor id="96" name="Microsoft 帐户" initials="M" lastIdx="1" clrIdx="0"/>
  <p:cmAuthor id="97" name="李威" initials="李" lastIdx="1" clrIdx="3"/>
  <p:cmAuthor id="98" name="吕冰鑫" initials="吕" lastIdx="1" clrIdx="0"/>
  <p:cmAuthor id="99" name="马海燕" initials="马" lastIdx="1" clrIdx="18"/>
  <p:cmAuthor id="100" name="张艳芳" initials="张" lastIdx="3" clrIdx="0"/>
  <p:cmAuthor id="101" name="liying" initials="l" lastIdx="11" clrIdx="0"/>
  <p:cmAuthor id="102" name="杨静" initials="杨" lastIdx="1" clrIdx="22"/>
  <p:cmAuthor id="104" name="毕军(0212009)" initials="毕" lastIdx="10" clrIdx="0"/>
  <p:cmAuthor id="105" name="dadi" initials="d" lastIdx="2" clrIdx="1"/>
  <p:cmAuthor id="106" name="郑廷东" initials="郑" lastIdx="25" clrIdx="0"/>
  <p:cmAuthor id="107" name="张钦" initials="张" lastIdx="4" clrIdx="4"/>
  <p:cmAuthor id="108" name="涛娜" initials="涛" lastIdx="1" clrIdx="11"/>
  <p:cmAuthor id="109" name="libin1204@163.com" initials="l" lastIdx="1" clrIdx="102"/>
  <p:cmAuthor id="111" name="王志虎" initials="王" lastIdx="1" clrIdx="24"/>
  <p:cmAuthor id="112" name="魏永生" initials="魏" lastIdx="4" clrIdx="17"/>
  <p:cmAuthor id="113" name="Zhou, Judy" initials="Z" lastIdx="9" clrIdx="0"/>
  <p:cmAuthor id="114" name=" " initials=" " lastIdx="3" clrIdx="6"/>
  <p:cmAuthor id="115" name="刘" initials="刘" lastIdx="8" clrIdx="0"/>
  <p:cmAuthor id="116" name="未知用户22" initials="未" lastIdx="34" clrIdx="0"/>
  <p:cmAuthor id="117" name="rq fan" initials="r" lastIdx="3" clrIdx="1"/>
  <p:cmAuthor id="118" name="侯 林" initials="侯" lastIdx="2" clrIdx="35"/>
  <p:cmAuthor id="119" name="周建文" initials="周" lastIdx="6" clrIdx="4"/>
  <p:cmAuthor id="120" name="郝志永" initials="郝" lastIdx="2" clrIdx="4"/>
  <p:cmAuthor id="121" name="李明" initials="李" lastIdx="4" clrIdx="73"/>
  <p:cmAuthor id="122" name="未知用户10" initials="未" lastIdx="1" clrIdx="1"/>
  <p:cmAuthor id="123" name="未知用户12" initials="未" lastIdx="18" clrIdx="0"/>
  <p:cmAuthor id="124" name="未知用户13" initials="未" lastIdx="2" clrIdx="0"/>
  <p:cmAuthor id="125" name="Lzy" initials="L" lastIdx="1" clrIdx="0"/>
  <p:cmAuthor id="126" name="周满红" initials="周" lastIdx="24" clrIdx="0"/>
  <p:cmAuthor id="127" name="张春贤" initials="张" lastIdx="13" clrIdx="128"/>
  <p:cmAuthor id="128" name="zyf" initials="z" lastIdx="1" clrIdx="38"/>
  <p:cmAuthor id="129" name="张双文" initials="张" lastIdx="2" clrIdx="3"/>
  <p:cmAuthor id="130" name="任勇" initials="任" lastIdx="5" clrIdx="0"/>
  <p:cmAuthor id="131" name="李天骄" initials="李" lastIdx="2" clrIdx="1"/>
  <p:cmAuthor id="132" name="王川雪" initials="王" lastIdx="65" clrIdx="0"/>
  <p:cmAuthor id="133" name="仵新荣" initials="仵" lastIdx="11" clrIdx="0"/>
  <p:cmAuthor id="134" name="樊革霞" initials="樊" lastIdx="56" clrIdx="0"/>
  <p:cmAuthor id="135" name="何已龙" initials="何" lastIdx="2" clrIdx="2"/>
  <p:cmAuthor id="136" name="陈桂枝" initials="陈" lastIdx="1" clrIdx="0"/>
  <p:cmAuthor id="137" name="刘艳龙" initials="刘" lastIdx="1" clrIdx="0"/>
  <p:cmAuthor id="138" name="席金煜" initials="席" lastIdx="42" clrIdx="4"/>
  <p:cmAuthor id="139" name="樊佳佳" initials="樊" lastIdx="59" clrIdx="5"/>
  <p:cmAuthor id="140" name="张雁" initials="张" lastIdx="1" clrIdx="19"/>
  <p:cmAuthor id="141" name="新萝卜家园" initials="新" lastIdx="0" clrIdx="0"/>
  <p:cmAuthor id="142" name="周开雷" initials="周" lastIdx="8" clrIdx="0"/>
  <p:cmAuthor id="143" name="lx" initials="l" lastIdx="2" clrIdx="0"/>
  <p:cmAuthor id="144" name="李振宇" initials="李" lastIdx="1" clrIdx="5"/>
  <p:cmAuthor id="145" name="刘传坤" initials="刘" lastIdx="15" clrIdx="0"/>
  <p:cmAuthor id="146" name="covslj" initials="c" lastIdx="4" clrIdx="0"/>
  <p:cmAuthor id="147" name="未知用户43" initials="未" lastIdx="3" clrIdx="0"/>
  <p:cmAuthor id="148" name="未知用户40" initials="未" lastIdx="21" clrIdx="4"/>
  <p:cmAuthor id="149" name="未知用户41" initials="未" lastIdx="1" clrIdx="1"/>
  <p:cmAuthor id="150" name="未知用户42" initials="未" lastIdx="1" clrIdx="0"/>
  <p:cmAuthor id="151" name="未知用户36" initials="未" lastIdx="2" clrIdx="0"/>
  <p:cmAuthor id="152" name="未知用户37" initials="未" lastIdx="2" clrIdx="1"/>
  <p:cmAuthor id="153" name="未知用户38" initials="未" lastIdx="16" clrIdx="2"/>
  <p:cmAuthor id="154" name="未知用户39" initials="未" lastIdx="0" clrIdx="0"/>
  <p:cmAuthor id="155" name="未知用户44" initials="未" lastIdx="3" clrIdx="0"/>
  <p:cmAuthor id="156" name="未知用户45" initials="未" lastIdx="21" clrIdx="4"/>
  <p:cmAuthor id="157" name="未知用户46" initials="未" lastIdx="1" clrIdx="1"/>
  <p:cmAuthor id="158" name="未知用户47" initials="未" lastIdx="1" clrIdx="0"/>
  <p:cmAuthor id="159" name="未知用户48" initials="未" lastIdx="1" clrIdx="0"/>
  <p:cmAuthor id="160" name="未知用户49" initials="未" lastIdx="1" clrIdx="0"/>
  <p:cmAuthor id="161" name="未知用户50" initials="未" lastIdx="1" clrIdx="0"/>
  <p:cmAuthor id="162" name="未知用户51" initials="未" lastIdx="4" clrIdx="0"/>
  <p:cmAuthor id="163" name="未知用户52" initials="未" lastIdx="13" clrIdx="0"/>
  <p:cmAuthor id="164" name="未知用户53" initials="未" lastIdx="2" clrIdx="0"/>
  <p:cmAuthor id="165" name="未知用户54" initials="未" lastIdx="2" clrIdx="1"/>
  <p:cmAuthor id="166" name="未知用户55" initials="未" lastIdx="16" clrIdx="2"/>
  <p:cmAuthor id="167" name="未知用户56" initials="未" lastIdx="0" clrIdx="0"/>
  <p:cmAuthor id="168" name="未知用户62" initials="未" lastIdx="3" clrIdx="0"/>
  <p:cmAuthor id="169" name="未知用户63" initials="未" lastIdx="21" clrIdx="4"/>
  <p:cmAuthor id="170" name="未知用户64" initials="未" lastIdx="1" clrIdx="1"/>
  <p:cmAuthor id="171" name="未知用户65" initials="未" lastIdx="1" clrIdx="0"/>
  <p:cmAuthor id="172" name="未知用户66" initials="未" lastIdx="1" clrIdx="0"/>
  <p:cmAuthor id="173" name="未知用户67" initials="未" lastIdx="1" clrIdx="0"/>
  <p:cmAuthor id="174" name="未知用户68" initials="未" lastIdx="1" clrIdx="0"/>
  <p:cmAuthor id="175" name="未知用户69" initials="未" lastIdx="4" clrIdx="0"/>
  <p:cmAuthor id="176" name="未知用户70" initials="未" lastIdx="13" clrIdx="0"/>
  <p:cmAuthor id="177" name="未知用户71" initials="未" lastIdx="2" clrIdx="0"/>
  <p:cmAuthor id="178" name="未知用户72" initials="未" lastIdx="2" clrIdx="1"/>
  <p:cmAuthor id="179" name="未知用户73" initials="未" lastIdx="16" clrIdx="2"/>
  <p:cmAuthor id="180" name="未知用户74" initials="未" lastIdx="0" clrIdx="0"/>
  <p:cmAuthor id="181" name="未知用户75" initials="未" lastIdx="3" clrIdx="0"/>
  <p:cmAuthor id="182" name="未知用户76" initials="未" lastIdx="21" clrIdx="4"/>
  <p:cmAuthor id="183" name="未知用户77" initials="未" lastIdx="1" clrIdx="1"/>
  <p:cmAuthor id="184" name="未知用户78" initials="未" lastIdx="1" clrIdx="0"/>
  <p:cmAuthor id="185" name="未知用户79" initials="未" lastIdx="1" clrIdx="0"/>
  <p:cmAuthor id="186" name="未知用户80" initials="未" lastIdx="1" clrIdx="0"/>
  <p:cmAuthor id="187" name="未知用户81" initials="未" lastIdx="1" clrIdx="0"/>
  <p:cmAuthor id="188" name="未知用户82" initials="未" lastIdx="4" clrIdx="0"/>
  <p:cmAuthor id="189" name="未知用户83" initials="未" lastIdx="13" clrIdx="0"/>
  <p:cmAuthor id="190" name="未知用户84" initials="未" lastIdx="2" clrIdx="0"/>
  <p:cmAuthor id="191" name="未知用户85" initials="未" lastIdx="2" clrIdx="1"/>
  <p:cmAuthor id="192" name="未知用户86" initials="未" lastIdx="16" clrIdx="2"/>
  <p:cmAuthor id="193" name="未知用户87" initials="未" lastIdx="0" clrIdx="0"/>
  <p:cmAuthor id="194" name="未知用户88" initials="未" lastIdx="3" clrIdx="0"/>
  <p:cmAuthor id="195" name="未知用户89" initials="未" lastIdx="21" clrIdx="4"/>
  <p:cmAuthor id="196" name="未知用户90" initials="未" lastIdx="1" clrIdx="1"/>
  <p:cmAuthor id="197" name="未知用户91" initials="未" lastIdx="1" clrIdx="0"/>
  <p:cmAuthor id="198" name="未知用户92" initials="未" lastIdx="1" clrIdx="0"/>
  <p:cmAuthor id="199" name="未知用户93" initials="未" lastIdx="1" clrIdx="0"/>
  <p:cmAuthor id="200" name="未知用户94" initials="未" lastIdx="1" clrIdx="0"/>
  <p:cmAuthor id="201" name="未知用户95" initials="未" lastIdx="4" clrIdx="0"/>
  <p:cmAuthor id="202" name="未知用户96" initials="未" lastIdx="13" clrIdx="0"/>
  <p:cmAuthor id="203" name="未知用户97" initials="未" lastIdx="2" clrIdx="0"/>
  <p:cmAuthor id="204" name="未知用户98" initials="未" lastIdx="2" clrIdx="1"/>
  <p:cmAuthor id="205" name="未知用户99" initials="未" lastIdx="16" clrIdx="2"/>
  <p:cmAuthor id="206" name="未知用户100" initials="未" lastIdx="0" clrIdx="0"/>
  <p:cmAuthor id="207" name="李刚" initials="李" lastIdx="3" clrIdx="0"/>
  <p:cmAuthor id="208" name="Microsoft Office 用户" initials="M" lastIdx="0" clrIdx="104"/>
  <p:cmAuthor id="212" name="段振华" initials="段" lastIdx="1" clrIdx="0"/>
  <p:cmAuthor id="213" name="zhouzhengshan" initials="z" lastIdx="1" clrIdx="212"/>
  <p:cmAuthor id="214" name="未知用户139" initials="未" lastIdx="4" clrIdx="0"/>
  <p:cmAuthor id="215" name="云峰 贾" initials="云" lastIdx="2" clrIdx="0"/>
  <p:cmAuthor id="216" name="Author" initials="A" lastIdx="1" clrIdx="0"/>
  <p:cmAuthor id="217" name="马红" initials="马" lastIdx="7" clrIdx="0"/>
  <p:cmAuthor id="218" name="p" initials="p" lastIdx="1" clrIdx="129"/>
  <p:cmAuthor id="219" name="未知用户135" initials="未" lastIdx="1" clrIdx="0"/>
  <p:cmAuthor id="222" name="武森" initials="武" lastIdx="1" clrIdx="2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5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多种字号的文本</a:t>
            </a:r>
            <a:r>
              <a:rPr kumimoji="1" lang="en-US" altLang="zh-CN" dirty="0"/>
              <a:t>，AI</a:t>
            </a:r>
            <a:r>
              <a:rPr kumimoji="1" lang="zh-CN" altLang="en-US" dirty="0"/>
              <a:t>翻译未按照中文版字号大小去区分</a:t>
            </a:r>
            <a:r>
              <a:rPr kumimoji="1" lang="en-US" altLang="zh-CN" dirty="0"/>
              <a:t>，</a:t>
            </a:r>
            <a:r>
              <a:rPr kumimoji="1" lang="zh-CN" altLang="en-US" dirty="0"/>
              <a:t>统一都是大字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sym typeface="+mn-ea"/>
              </a:rPr>
              <a:t>1、</a:t>
            </a:r>
            <a:r>
              <a:rPr kumimoji="1" lang="zh-CN" altLang="en-US" dirty="0">
                <a:sym typeface="+mn-ea"/>
              </a:rPr>
              <a:t>黑色字体经常翻译版本是白色</a:t>
            </a:r>
            <a:r>
              <a:rPr kumimoji="1" lang="zh-CN" altLang="en-US" dirty="0">
                <a:sym typeface="+mn-ea"/>
              </a:rPr>
              <a:t>字体</a:t>
            </a:r>
            <a:endParaRPr kumimoji="1" lang="zh-CN" altLang="en-US" dirty="0">
              <a:sym typeface="+mn-ea"/>
            </a:endParaRPr>
          </a:p>
          <a:p>
            <a:r>
              <a:rPr kumimoji="1" lang="en-US" altLang="zh-CN" dirty="0"/>
              <a:t>2、</a:t>
            </a:r>
            <a:r>
              <a:rPr kumimoji="1" lang="zh-CN" altLang="en-US" dirty="0"/>
              <a:t>中文字体已经有标题分行</a:t>
            </a:r>
            <a:r>
              <a:rPr kumimoji="1" lang="en-US" altLang="zh-CN" dirty="0"/>
              <a:t>，</a:t>
            </a:r>
            <a:r>
              <a:rPr kumimoji="1" lang="zh-CN" altLang="en-US" dirty="0"/>
              <a:t>且字体大小有区隔</a:t>
            </a:r>
            <a:r>
              <a:rPr kumimoji="1" lang="en-US" altLang="zh-CN" dirty="0"/>
              <a:t>。</a:t>
            </a:r>
            <a:r>
              <a:rPr kumimoji="1" lang="zh-CN" altLang="en-US" dirty="0"/>
              <a:t>日文翻译过来无分行</a:t>
            </a:r>
            <a:r>
              <a:rPr kumimoji="1" lang="en-US" altLang="zh-CN" dirty="0"/>
              <a:t>，</a:t>
            </a:r>
            <a:r>
              <a:rPr kumimoji="1" lang="zh-CN" altLang="en-US" dirty="0"/>
              <a:t>字体无</a:t>
            </a:r>
            <a:r>
              <a:rPr kumimoji="1" lang="zh-CN" altLang="en-US" dirty="0"/>
              <a:t>区隔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D77295-6FEC-5E4D-A28C-2E4C52AB56A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kumimoji="1" lang="en-US" altLang="zh-CN" dirty="0">
                <a:sym typeface="+mn-ea"/>
              </a:rPr>
              <a:t>1、</a:t>
            </a:r>
            <a:r>
              <a:rPr kumimoji="1" lang="zh-CN" altLang="en-US" dirty="0">
                <a:sym typeface="+mn-ea"/>
              </a:rPr>
              <a:t>有色块叠加文字</a:t>
            </a:r>
            <a:r>
              <a:rPr kumimoji="1" lang="en-US" altLang="zh-CN" dirty="0">
                <a:sym typeface="+mn-ea"/>
              </a:rPr>
              <a:t>，</a:t>
            </a:r>
            <a:r>
              <a:rPr kumimoji="1" lang="zh-CN" altLang="en-US" dirty="0">
                <a:sym typeface="+mn-ea"/>
              </a:rPr>
              <a:t>翻译版色块不见了</a:t>
            </a:r>
            <a:endParaRPr kumimoji="1" lang="zh-CN" altLang="en-US" dirty="0">
              <a:sym typeface="+mn-ea"/>
            </a:endParaRPr>
          </a:p>
          <a:p>
            <a:r>
              <a:rPr kumimoji="1" lang="en-US" altLang="zh-CN" dirty="0">
                <a:sym typeface="+mn-ea"/>
              </a:rPr>
              <a:t>2、</a:t>
            </a:r>
            <a:r>
              <a:rPr kumimoji="1" lang="zh-CN" altLang="en-US" dirty="0">
                <a:sym typeface="+mn-ea"/>
              </a:rPr>
              <a:t>多种字号的文本</a:t>
            </a:r>
            <a:r>
              <a:rPr kumimoji="1" lang="en-US" altLang="zh-CN" dirty="0">
                <a:sym typeface="+mn-ea"/>
              </a:rPr>
              <a:t>，AI</a:t>
            </a:r>
            <a:r>
              <a:rPr kumimoji="1" lang="zh-CN" altLang="en-US" dirty="0">
                <a:sym typeface="+mn-ea"/>
              </a:rPr>
              <a:t>翻译未按照中文版字号大小去区分</a:t>
            </a:r>
            <a:r>
              <a:rPr kumimoji="1" lang="en-US" altLang="zh-CN" dirty="0">
                <a:sym typeface="+mn-ea"/>
              </a:rPr>
              <a:t>，</a:t>
            </a:r>
            <a:r>
              <a:rPr kumimoji="1" lang="zh-CN" altLang="en-US" dirty="0">
                <a:sym typeface="+mn-ea"/>
              </a:rPr>
              <a:t>统一都是大字</a:t>
            </a:r>
            <a:r>
              <a:rPr kumimoji="1" lang="en-US" altLang="zh-CN" dirty="0">
                <a:sym typeface="+mn-ea"/>
              </a:rPr>
              <a:t>。</a:t>
            </a:r>
            <a:r>
              <a:rPr kumimoji="1" lang="zh-CN" altLang="en-US" dirty="0">
                <a:sym typeface="+mn-ea"/>
              </a:rPr>
              <a:t>文字互相遮挡</a:t>
            </a:r>
            <a:endParaRPr kumimoji="1" lang="en-US" altLang="zh-CN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1、</a:t>
            </a:r>
            <a:r>
              <a:rPr lang="zh-CN" altLang="en-US"/>
              <a:t>有底版的</a:t>
            </a:r>
            <a:r>
              <a:rPr lang="en-US" altLang="zh-CN"/>
              <a:t>，</a:t>
            </a:r>
            <a:r>
              <a:rPr lang="zh-CN" altLang="en-US"/>
              <a:t>白色字体翻译过来又是黑色</a:t>
            </a:r>
            <a:r>
              <a:rPr lang="zh-CN" altLang="en-US"/>
              <a:t>字体</a:t>
            </a:r>
            <a:endParaRPr lang="zh-CN" altLang="en-US"/>
          </a:p>
          <a:p>
            <a:r>
              <a:rPr lang="en-US" altLang="zh-CN"/>
              <a:t>2、</a:t>
            </a:r>
            <a:r>
              <a:rPr lang="zh-CN" altLang="en-US"/>
              <a:t>文字溢出</a:t>
            </a:r>
            <a:r>
              <a:rPr lang="zh-CN" altLang="en-US"/>
              <a:t>文本框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tags" Target="../tags/tag70.xml"/><Relationship Id="rId9" Type="http://schemas.openxmlformats.org/officeDocument/2006/relationships/tags" Target="../tags/tag71.xml"/><Relationship Id="rId10" Type="http://schemas.openxmlformats.org/officeDocument/2006/relationships/tags" Target="../tags/tag72.xml"/><Relationship Id="rId11" Type="http://schemas.openxmlformats.org/officeDocument/2006/relationships/tags" Target="../tags/tag73.xml"/><Relationship Id="rId12" Type="http://schemas.openxmlformats.org/officeDocument/2006/relationships/tags" Target="../tags/tag74.xml"/><Relationship Id="rId13" Type="http://schemas.openxmlformats.org/officeDocument/2006/relationships/tags" Target="../tags/tag75.xml"/><Relationship Id="rId14" Type="http://schemas.openxmlformats.org/officeDocument/2006/relationships/tags" Target="../tags/tag76.xml"/><Relationship Id="rId15" Type="http://schemas.openxmlformats.org/officeDocument/2006/relationships/tags" Target="../tags/tag77.xml"/><Relationship Id="rId16" Type="http://schemas.openxmlformats.org/officeDocument/2006/relationships/tags" Target="../tags/tag78.xml"/><Relationship Id="rId17" Type="http://schemas.openxmlformats.org/officeDocument/2006/relationships/tags" Target="../tags/tag79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tags" Target="../tags/tag84.xml"/><Relationship Id="rId6" Type="http://schemas.openxmlformats.org/officeDocument/2006/relationships/tags" Target="../tags/tag85.xml"/><Relationship Id="rId7" Type="http://schemas.openxmlformats.org/officeDocument/2006/relationships/tags" Target="../tags/tag86.xml"/><Relationship Id="rId8" Type="http://schemas.openxmlformats.org/officeDocument/2006/relationships/tags" Target="../tags/tag87.xml"/><Relationship Id="rId9" Type="http://schemas.openxmlformats.org/officeDocument/2006/relationships/tags" Target="../tags/tag88.xml"/><Relationship Id="rId10" Type="http://schemas.openxmlformats.org/officeDocument/2006/relationships/tags" Target="../tags/tag89.xml"/><Relationship Id="rId11" Type="http://schemas.openxmlformats.org/officeDocument/2006/relationships/tags" Target="../tags/tag90.xml"/><Relationship Id="rId12" Type="http://schemas.openxmlformats.org/officeDocument/2006/relationships/tags" Target="../tags/tag91.xml"/><Relationship Id="rId13" Type="http://schemas.openxmlformats.org/officeDocument/2006/relationships/tags" Target="../tags/tag92.xml"/><Relationship Id="rId14" Type="http://schemas.openxmlformats.org/officeDocument/2006/relationships/tags" Target="../tags/tag93.xml"/><Relationship Id="rId15" Type="http://schemas.openxmlformats.org/officeDocument/2006/relationships/tags" Target="../tags/tag94.xml"/><Relationship Id="rId16" Type="http://schemas.openxmlformats.org/officeDocument/2006/relationships/tags" Target="../tags/tag95.xml"/><Relationship Id="rId17" Type="http://schemas.openxmlformats.org/officeDocument/2006/relationships/tags" Target="../tags/tag96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tags" Target="../tags/tag98.xml"/><Relationship Id="rId3" Type="http://schemas.openxmlformats.org/officeDocument/2006/relationships/tags" Target="../tags/tag99.xml"/><Relationship Id="rId4" Type="http://schemas.openxmlformats.org/officeDocument/2006/relationships/tags" Target="../tags/tag100.xml"/><Relationship Id="rId5" Type="http://schemas.openxmlformats.org/officeDocument/2006/relationships/tags" Target="../tags/tag101.xml"/><Relationship Id="rId6" Type="http://schemas.openxmlformats.org/officeDocument/2006/relationships/tags" Target="../tags/tag102.xml"/><Relationship Id="rId7" Type="http://schemas.openxmlformats.org/officeDocument/2006/relationships/tags" Target="../tags/tag103.xml"/><Relationship Id="rId8" Type="http://schemas.openxmlformats.org/officeDocument/2006/relationships/tags" Target="../tags/tag104.xml"/><Relationship Id="rId9" Type="http://schemas.openxmlformats.org/officeDocument/2006/relationships/tags" Target="../tags/tag105.xml"/><Relationship Id="rId10" Type="http://schemas.openxmlformats.org/officeDocument/2006/relationships/tags" Target="../tags/tag106.xml"/><Relationship Id="rId11" Type="http://schemas.openxmlformats.org/officeDocument/2006/relationships/tags" Target="../tags/tag107.xml"/><Relationship Id="rId12" Type="http://schemas.openxmlformats.org/officeDocument/2006/relationships/tags" Target="../tags/tag108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tags" Target="../tags/tag114.xml"/><Relationship Id="rId7" Type="http://schemas.openxmlformats.org/officeDocument/2006/relationships/tags" Target="../tags/tag115.xml"/><Relationship Id="rId8" Type="http://schemas.openxmlformats.org/officeDocument/2006/relationships/tags" Target="../tags/tag116.xml"/><Relationship Id="rId9" Type="http://schemas.openxmlformats.org/officeDocument/2006/relationships/tags" Target="../tags/tag117.xml"/><Relationship Id="rId10" Type="http://schemas.openxmlformats.org/officeDocument/2006/relationships/tags" Target="../tags/tag118.xml"/><Relationship Id="rId11" Type="http://schemas.openxmlformats.org/officeDocument/2006/relationships/tags" Target="../tags/tag119.xml"/><Relationship Id="rId12" Type="http://schemas.openxmlformats.org/officeDocument/2006/relationships/tags" Target="../tags/tag120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tags" Target="../tags/tag121.xml"/><Relationship Id="rId8" Type="http://schemas.openxmlformats.org/officeDocument/2006/relationships/tags" Target="../tags/tag122.xml"/><Relationship Id="rId9" Type="http://schemas.openxmlformats.org/officeDocument/2006/relationships/tags" Target="../tags/tag123.xml"/><Relationship Id="rId10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png"/><Relationship Id="rId7" Type="http://schemas.openxmlformats.org/officeDocument/2006/relationships/tags" Target="../tags/tag124.xml"/><Relationship Id="rId8" Type="http://schemas.openxmlformats.org/officeDocument/2006/relationships/tags" Target="../tags/tag125.xml"/><Relationship Id="rId9" Type="http://schemas.openxmlformats.org/officeDocument/2006/relationships/tags" Target="../tags/tag126.xml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tags" Target="../tags/tag130.xml"/><Relationship Id="rId4" Type="http://schemas.openxmlformats.org/officeDocument/2006/relationships/tags" Target="../tags/tag131.xml"/><Relationship Id="rId5" Type="http://schemas.openxmlformats.org/officeDocument/2006/relationships/tags" Target="../tags/tag13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1206500" y="226695"/>
            <a:ext cx="977836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sz="3600" b="1" lang="zh-CN">
                <a:solidFill>
                  <a:srgbClr val="C00000"/>
                </a:solidFill>
                <a:latin typeface="微软雅黑"/>
              </a:rPr>
              <a:t>Advancing and iterating on technology + dissemination, launching an offensive on two pillars\nGAC Toyota’s battle for discourse power has already begun, and the results are significant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847205" y="4716145"/>
            <a:ext cx="392176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>
                <a:latin typeface="微软雅黑"/>
              </a:rPr>
              <a:t>Drawing on the successful experience of the Allion 3X\nToyota is following a distinctive dissemination path that is plannable, controllable, and predictable</a:t>
            </a:r>
          </a:p>
        </p:txBody>
      </p:sp>
      <p:sp>
        <p:nvSpPr>
          <p:cNvPr id="3" name="矩形 2"/>
          <p:cNvSpPr/>
          <p:nvPr/>
        </p:nvSpPr>
        <p:spPr>
          <a:xfrm>
            <a:off x="636270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90615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44220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3200" b="1">
                <a:latin typeface="微软雅黑"/>
              </a:rPr>
              <a:t>Quality as the foundation, a leap in technology\nA technological counteroffensive in the new-energy era</a:t>
            </a: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07720" y="4335780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285865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3200" b="1">
                <a:latin typeface="微软雅黑"/>
              </a:rPr>
              <a:t>Topics explode, traffic is king\nA dissemination offensive in the new-media era</a:t>
            </a: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473960" y="433133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171950" y="434784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15340" y="4518660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latin typeface="微软雅黑"/>
              </a:rPr>
              <a:t>9th-generation Camry</a:t>
            </a: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10260" y="5004435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latin typeface="微软雅黑"/>
              </a:rPr>
              <a:t>A global car, with a China cockpit firing the first shot in GAC Toyota’s technological counteroffensive</a:t>
            </a: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59990" y="453072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latin typeface="微软雅黑"/>
              </a:rPr>
              <a:t>Allion 3X</a:t>
            </a: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54910" y="501650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latin typeface="微软雅黑"/>
              </a:rPr>
              <a:t>As the first car in the 140,000-yuan class with advanced intelligent driving, it establishes GAC Toyota’s intelligent-driving position</a:t>
            </a: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153535" y="452564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latin typeface="微软雅黑"/>
              </a:rPr>
              <a:t>Next-generation Wildlander</a:t>
            </a: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148455" y="501142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latin typeface="微软雅黑"/>
              </a:rPr>
              <a:t>The China cockpit evolves further, a milestone in the iteration of GAC Toyota’s intelligence and technology</a:t>
            </a: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9916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400" b="1">
                <a:latin typeface="微软雅黑"/>
              </a:rPr>
              <a:t>Evolution of intelligent electrification:</a:t>
            </a: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52018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400" b="1">
                <a:latin typeface="微软雅黑"/>
              </a:rPr>
              <a:t>Iteration of dissemination:</a:t>
            </a: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6424930" y="4347845"/>
            <a:ext cx="470281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>
            <p:custDataLst>
              <p:tags r:id="rId1"/>
            </p:custDataLst>
          </p:nvPr>
        </p:nvSpPr>
        <p:spPr>
          <a:xfrm>
            <a:off x="636270" y="226695"/>
            <a:ext cx="10801985" cy="1496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sz="2800" b="1" lang="zh-CN">
                <a:solidFill>
                  <a:srgbClr val="C00000"/>
                </a:solidFill>
                <a:latin typeface="微软雅黑"/>
              </a:rPr>
              <a:t>Advancing with two pillars—technological evolution and iterative dissemination\nGAC Toyota’s battle for discourse power has already begun, and the results are remarkable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847205" y="4716145"/>
            <a:ext cx="3921760" cy="1405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>
                <a:latin typeface="微软雅黑"/>
              </a:rPr>
              <a:t>Building on the successful experience of the Allion 3X\nToyota is following a distinctive dissemination path that is plannable, controllable, and predictable</a:t>
            </a:r>
          </a:p>
        </p:txBody>
      </p:sp>
      <p:sp>
        <p:nvSpPr>
          <p:cNvPr id="3" name="矩形 2"/>
          <p:cNvSpPr/>
          <p:nvPr/>
        </p:nvSpPr>
        <p:spPr>
          <a:xfrm>
            <a:off x="636270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6190615" y="1952625"/>
            <a:ext cx="5247005" cy="456882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44220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400" b="1">
                <a:latin typeface="微软雅黑"/>
              </a:rPr>
              <a:t>Quality as the foundation, technology making leaps\nA technological counteroffensive in the new-energy era</a:t>
            </a: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07720" y="4335780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285865" y="2724785"/>
            <a:ext cx="5043805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400" b="1">
                <a:latin typeface="微软雅黑"/>
              </a:rPr>
              <a:t>Topic explosion, traffic is king\nA dissemination offensive in the new-media era</a:t>
            </a: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2473960" y="433133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171950" y="4347845"/>
            <a:ext cx="153543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15340" y="4518660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latin typeface="微软雅黑"/>
              </a:rPr>
              <a:t>9th-generation Camry</a:t>
            </a: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10260" y="5004435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latin typeface="微软雅黑"/>
              </a:rPr>
              <a:t>A global car with a China cockpit fires the first shot of GAC Toyota’s technological counteroffensive</a:t>
            </a: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2459990" y="453072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latin typeface="微软雅黑"/>
              </a:rPr>
              <a:t>Allion 3X</a:t>
            </a: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54910" y="501650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latin typeface="微软雅黑"/>
              </a:rPr>
              <a:t>As the first 140k-class vehicle with advanced intelligent driving, it establishes GAC Toyota’s position in intelligent driving</a:t>
            </a: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153535" y="4525645"/>
            <a:ext cx="15354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 b="1">
                <a:latin typeface="微软雅黑"/>
              </a:rPr>
              <a:t>New-generation Wildlander</a:t>
            </a: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148455" y="5011420"/>
            <a:ext cx="153543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400">
                <a:latin typeface="微软雅黑"/>
              </a:rPr>
              <a:t>The China cockpit evolves further, a milestone in GAC Toyota’s iteration of intelligence and technology</a:t>
            </a: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9916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400" b="1">
                <a:latin typeface="微软雅黑"/>
              </a:rPr>
              <a:t>Evolution of intelligent electrification:</a:t>
            </a: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520180" y="2127250"/>
            <a:ext cx="324548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400" b="1">
                <a:latin typeface="微软雅黑"/>
              </a:rPr>
              <a:t>Iteration of dissemination:</a:t>
            </a:r>
          </a:p>
        </p:txBody>
      </p:sp>
      <p:sp>
        <p:nvSpPr>
          <p:cNvPr id="18" name="矩形 17"/>
          <p:cNvSpPr/>
          <p:nvPr>
            <p:custDataLst>
              <p:tags r:id="rId17"/>
            </p:custDataLst>
          </p:nvPr>
        </p:nvSpPr>
        <p:spPr>
          <a:xfrm>
            <a:off x="6424930" y="4347845"/>
            <a:ext cx="4702810" cy="1913255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24535" y="948055"/>
            <a:ext cx="9778365" cy="171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800" b="1">
                <a:latin typeface="微软雅黑"/>
              </a:rPr>
              <a:t>Guangqi Toyota Traffic Shockwave Tactics Practice Support ///</a:t>
            </a: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436610" y="2926715"/>
            <a:ext cx="2986405" cy="290449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74235" y="2910840"/>
            <a:ext cx="2986405" cy="291973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12165" y="2918460"/>
            <a:ext cx="2986405" cy="2919730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流程图: 过程 27"/>
          <p:cNvSpPr/>
          <p:nvPr>
            <p:custDataLst>
              <p:tags r:id="rId5"/>
            </p:custDataLst>
          </p:nvPr>
        </p:nvSpPr>
        <p:spPr>
          <a:xfrm>
            <a:off x="915035" y="305371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/>
            <a:r>
              <a:rPr sz="2400" b="1"/>
              <a:t>Predict</a:t>
            </a:r>
          </a:p>
          <a:p>
            <a:r>
              <a:t>Build a high-quality media matrix</a:t>
            </a:r>
          </a:p>
          <a:p>
            <a:r>
              <a:t>Volume can be predicted</a:t>
            </a: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8536305" y="3061970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/>
            <a:r>
              <a:rPr sz="2400" b="1"/>
              <a:t>Plan</a:t>
            </a:r>
          </a:p>
          <a:p>
            <a:r>
              <a:t>Establish core dissemination labels</a:t>
            </a:r>
          </a:p>
          <a:p>
            <a:r>
              <a:t>Content can be standardized</a:t>
            </a:r>
          </a:p>
        </p:txBody>
      </p:sp>
      <p:sp>
        <p:nvSpPr>
          <p:cNvPr id="9" name="流程图: 过程 8"/>
          <p:cNvSpPr/>
          <p:nvPr>
            <p:custDataLst>
              <p:tags r:id="rId7"/>
            </p:custDataLst>
          </p:nvPr>
        </p:nvSpPr>
        <p:spPr>
          <a:xfrm>
            <a:off x="4785360" y="304609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/>
            <a:r>
              <a:rPr sz="2400" b="1"/>
              <a:t>Push</a:t>
            </a:r>
          </a:p>
          <a:p>
            <a:r>
              <a:t>Match vehicle milestones with topics</a:t>
            </a:r>
          </a:p>
          <a:p>
            <a:r>
              <a:t>Pace can be controlled</a:t>
            </a: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97853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>
                <a:latin typeface="微软雅黑"/>
              </a:rPr>
              <a:t>Centered on central Party and government media, amplify through major industry influencers and vertical media to build a traffic-focused media matrix</a:t>
            </a: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874260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>
                <a:latin typeface="微软雅黑"/>
              </a:rPr>
              <a:t>Through the relay of the Wilanda global launch event, the dissemination pace can be flexibly sped up or slowed down, boosting excitement around Wilanda’s model update information</a:t>
            </a: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63155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>
                <a:latin typeface="微软雅黑"/>
              </a:rPr>
              <a:t>In line with the dissemination pace, output high-density content at key milestones to maintain momentum and focus on spreading core topics</a:t>
            </a:r>
          </a:p>
        </p:txBody>
      </p:sp>
      <p:sp>
        <p:nvSpPr>
          <p:cNvPr id="12" name="箭头: V 形 33"/>
          <p:cNvSpPr/>
          <p:nvPr>
            <p:custDataLst>
              <p:tags r:id="rId11"/>
            </p:custDataLst>
          </p:nvPr>
        </p:nvSpPr>
        <p:spPr>
          <a:xfrm>
            <a:off x="3990340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箭头: V 形 33"/>
          <p:cNvSpPr/>
          <p:nvPr>
            <p:custDataLst>
              <p:tags r:id="rId12"/>
            </p:custDataLst>
          </p:nvPr>
        </p:nvSpPr>
        <p:spPr>
          <a:xfrm>
            <a:off x="7859395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724535" y="948055"/>
            <a:ext cx="9778365" cy="171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800" b="1">
                <a:latin typeface="微软雅黑"/>
              </a:rPr>
              <a:t>GAC Toyota Traffic Shockwave Tactics in Practice</a:t>
            </a:r>
          </a:p>
          <a:p/>
          <a:p>
            <a:r>
              <a:t>Support ///</a:t>
            </a: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436610" y="2926715"/>
            <a:ext cx="2986405" cy="290449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4674235" y="2910840"/>
            <a:ext cx="2986405" cy="2919730"/>
          </a:xfrm>
          <a:prstGeom prst="rect">
            <a:avLst/>
          </a:prstGeom>
          <a:noFill/>
          <a:ln w="28575" cmpd="sng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812165" y="2918460"/>
            <a:ext cx="2986405" cy="2919730"/>
          </a:xfrm>
          <a:prstGeom prst="rect">
            <a:avLst/>
          </a:prstGeom>
          <a:noFill/>
          <a:ln w="28575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流程图: 过程 27"/>
          <p:cNvSpPr/>
          <p:nvPr>
            <p:custDataLst>
              <p:tags r:id="rId5"/>
            </p:custDataLst>
          </p:nvPr>
        </p:nvSpPr>
        <p:spPr>
          <a:xfrm>
            <a:off x="915035" y="305371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/>
            <a:r>
              <a:rPr sz="2400" b="1"/>
              <a:t>Predict</a:t>
            </a:r>
          </a:p>
          <a:p>
            <a:r>
              <a:t>Build a high-quality media matrix</a:t>
            </a:r>
          </a:p>
          <a:p>
            <a:r>
              <a:t>Voice volume can be forecast</a:t>
            </a:r>
          </a:p>
        </p:txBody>
      </p:sp>
      <p:sp>
        <p:nvSpPr>
          <p:cNvPr id="8" name="流程图: 过程 7"/>
          <p:cNvSpPr/>
          <p:nvPr>
            <p:custDataLst>
              <p:tags r:id="rId6"/>
            </p:custDataLst>
          </p:nvPr>
        </p:nvSpPr>
        <p:spPr>
          <a:xfrm>
            <a:off x="8536305" y="3061970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/>
            <a:r>
              <a:rPr sz="2400" b="1"/>
              <a:t>Plan</a:t>
            </a:r>
          </a:p>
          <a:p>
            <a:r>
              <a:t>Establish core dissemination labels</a:t>
            </a:r>
          </a:p>
          <a:p>
            <a:r>
              <a:t>Content can be standardized</a:t>
            </a:r>
          </a:p>
        </p:txBody>
      </p:sp>
      <p:sp>
        <p:nvSpPr>
          <p:cNvPr id="9" name="流程图: 过程 8"/>
          <p:cNvSpPr/>
          <p:nvPr>
            <p:custDataLst>
              <p:tags r:id="rId7"/>
            </p:custDataLst>
          </p:nvPr>
        </p:nvSpPr>
        <p:spPr>
          <a:xfrm>
            <a:off x="4785360" y="3046095"/>
            <a:ext cx="2788285" cy="1229995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/>
            <a:r>
              <a:rPr sz="2400" b="1"/>
              <a:t>Push</a:t>
            </a:r>
          </a:p>
          <a:p>
            <a:r>
              <a:t>Match vehicle milestones with hot topics</a:t>
            </a:r>
          </a:p>
          <a:p>
            <a:r>
              <a:t>Pace can be controlled</a:t>
            </a:r>
          </a:p>
        </p:txBody>
      </p:sp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97853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>
                <a:latin typeface="微软雅黑"/>
              </a:rPr>
              <a:t>Centered on central Party and government media, amplify through industry KOLs and vertical media to build a traffic-focused media matrix</a:t>
            </a: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874260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>
                <a:latin typeface="微软雅黑"/>
              </a:rPr>
              <a:t>Through the relay of the Wilanda global launch event, the dissemination pace can be flexibly sped up or slowed down, boosting momentum for Wilanda’s model-change information</a:t>
            </a: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631555" y="4426585"/>
            <a:ext cx="2635885" cy="122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1600">
                <a:latin typeface="微软雅黑"/>
              </a:rPr>
              <a:t>In line with the dissemination pace, output high-density content at key milestones to sustain heat and focus on spreading core topics</a:t>
            </a:r>
          </a:p>
        </p:txBody>
      </p:sp>
      <p:sp>
        <p:nvSpPr>
          <p:cNvPr id="12" name="箭头: V 形 33"/>
          <p:cNvSpPr/>
          <p:nvPr>
            <p:custDataLst>
              <p:tags r:id="rId11"/>
            </p:custDataLst>
          </p:nvPr>
        </p:nvSpPr>
        <p:spPr>
          <a:xfrm>
            <a:off x="3990340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箭头: V 形 33"/>
          <p:cNvSpPr/>
          <p:nvPr>
            <p:custDataLst>
              <p:tags r:id="rId12"/>
            </p:custDataLst>
          </p:nvPr>
        </p:nvSpPr>
        <p:spPr>
          <a:xfrm>
            <a:off x="7859395" y="4022090"/>
            <a:ext cx="397510" cy="714375"/>
          </a:xfrm>
          <a:prstGeom prst="chevron">
            <a:avLst/>
          </a:prstGeom>
          <a:solidFill>
            <a:srgbClr val="1E386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2770" y="2297430"/>
            <a:ext cx="11081387" cy="3388360"/>
            <a:chOff x="810196" y="2623435"/>
            <a:chExt cx="9527068" cy="3832300"/>
          </a:xfrm>
        </p:grpSpPr>
        <p:sp>
          <p:nvSpPr>
            <p:cNvPr id="31" name="矩形 30"/>
            <p:cNvSpPr/>
            <p:nvPr/>
          </p:nvSpPr>
          <p:spPr>
            <a:xfrm>
              <a:off x="7350280" y="2623435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020412" y="2623436"/>
              <a:ext cx="3076608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0196" y="2623437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6757" y="2776084"/>
              <a:ext cx="2664661" cy="127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lang="zh-CN">
                  <a:solidFill>
                    <a:srgbClr val="C00000"/>
                  </a:solidFill>
                  <a:latin typeface="微软雅黑"/>
                </a:rPr>
                <a:t>Promote the intelligent evolution of all GAC Toyota models</a:t>
              </a:r>
            </a:p>
            <a:p>
              <a:r>
                <a:t>————</a:t>
              </a:r>
            </a:p>
            <a:p>
              <a:r>
                <a:t>Using smart technology as the entry point, the smart upgrade of the Wildlander enhances its benchmark significance for the smart transformation of joint-venture automakers.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56343" y="4221309"/>
              <a:ext cx="2664661" cy="1379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sz="1200">
                  <a:latin typeface="微软雅黑"/>
                </a:rPr>
                <a:t>Example topics</a:t>
              </a:r>
            </a:p>
            <a:p>
              <a:r>
                <a:t>#Wildlander major refresh, upgrade of GAC Toyota’s brand strategy#</a:t>
              </a:r>
            </a:p>
            <a:p>
              <a:r>
                <a:t>#GAC Toyota releases the “Intelligent Evolution, ICE &amp; EV Intelligence” strategy; intelligent electrification enters the second half#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40065" y="2774257"/>
              <a:ext cx="2956955" cy="1503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>
                  <a:solidFill>
                    <a:srgbClr val="C00000"/>
                  </a:solidFill>
                  <a:latin typeface="微软雅黑"/>
                </a:rPr>
                <a:t>Brand strategy rebuilds market competitiveness</a:t>
              </a:r>
            </a:p>
            <a:p>
              <a:r>
                <a:t>————</a:t>
              </a:r>
            </a:p>
            <a:p>
              <a:r>
                <a:t>Using the strategy of smart upgrades across all GAC Toyota models as the entry point, examine its impact on the industry’s technology paths and user perceptions.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807" y="2775693"/>
              <a:ext cx="2911457" cy="1227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i="0" u="none" lang="zh-CN">
                  <a:solidFill>
                    <a:srgbClr val="C00000"/>
                  </a:solidFill>
                  <a:latin typeface="微软雅黑"/>
                </a:rPr>
                <a:t>Wildlander major refresh: intelligent taste as the core highlight</a:t>
              </a:r>
            </a:p>
            <a:p>
              <a:r>
                <a:t>————</a:t>
              </a:r>
            </a:p>
            <a:p>
              <a:r>
                <a:t>Using the Wildlander refresh information as the entry point, focus on specific product upgrade points to raise expectations for the new Wildlander.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40065" y="4206540"/>
              <a:ext cx="2956956" cy="1170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sz="1200">
                  <a:latin typeface="微软雅黑"/>
                </a:rPr>
                <a:t>Example topics</a:t>
              </a:r>
            </a:p>
            <a:p>
              <a:r>
                <a:t>#Wildlander global debut, potential to reshape the hybrid competitive landscape#</a:t>
              </a:r>
            </a:p>
            <a:p>
              <a:r>
                <a:t>#New Wildlander global debut, GAC Toyota takes another important step in intelligent electrification#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002" t="23449" r="13178" b="3665"/>
          <a:stretch>
            <a:fillRect/>
          </a:stretch>
        </p:blipFill>
        <p:spPr>
          <a:xfrm>
            <a:off x="6313713" y="5023444"/>
            <a:ext cx="411654" cy="3855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7191" y="967335"/>
            <a:ext cx="11505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b="1" i="0" u="none" lang="zh-CN">
                <a:solidFill>
                  <a:srgbClr val="FFFFFF"/>
                </a:solidFill>
                <a:latin typeface="微软雅黑"/>
              </a:rPr>
              <a:t>Central party-and-government media and top industry influencers take a clear stance, further amplifying the spotlight</a:t>
            </a:r>
          </a:p>
          <a:p>
            <a:r>
              <a:t>Through the dissemination of #GAC Toyota grand brand strategy# and #Wildlander major refresh#, raise value expectations.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435912" y="5029898"/>
            <a:ext cx="25253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i="0" u="none">
                <a:latin typeface="微软雅黑"/>
              </a:rPr>
              <a:t>@Understand Cars in 30 Seconds, @Yan Chuang Talks Cars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445856" y="5079971"/>
            <a:ext cx="2104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i="0" u="none">
                <a:latin typeface="微软雅黑"/>
              </a:rPr>
              <a:t>@Sohu Auto, @Autohome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41351" y="5188648"/>
            <a:ext cx="256765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latin typeface="微软雅黑"/>
              </a:rPr>
              <a:t>@People’s Daily, @Xinhua News Agency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90" y="5064554"/>
            <a:ext cx="525187" cy="525187"/>
          </a:xfrm>
          <a:prstGeom prst="rect">
            <a:avLst/>
          </a:prstGeom>
        </p:spPr>
      </p:pic>
      <p:pic>
        <p:nvPicPr>
          <p:cNvPr id="43" name="图片 42" descr="徽标, 公司名称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33" y="5064554"/>
            <a:ext cx="579707" cy="525188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299287" y="3670508"/>
            <a:ext cx="3439465" cy="932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200">
                <a:latin typeface="微软雅黑"/>
              </a:rPr>
              <a:t>Example topics</a:t>
            </a:r>
          </a:p>
          <a:p>
            <a:r>
              <a:t>#Wildlander world premiere: how long until domestic launch?#</a:t>
            </a:r>
          </a:p>
          <a:p/>
          <a:p>
            <a:r>
              <a:t>#The most intelligent Wildlander ever, coming soon#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673132" y="5924280"/>
            <a:ext cx="907232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微软雅黑"/>
              </a:rPr>
              <a:t>Deepen GAC Toyota’s “ICE &amp; EV Intelligence” grand brand strategy and raise expectations.</a:t>
            </a:r>
          </a:p>
        </p:txBody>
      </p:sp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752"/>
          <a:stretch>
            <a:fillRect/>
          </a:stretch>
        </p:blipFill>
        <p:spPr>
          <a:xfrm>
            <a:off x="6792407" y="5004054"/>
            <a:ext cx="817751" cy="404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56" y="4899663"/>
            <a:ext cx="477108" cy="477108"/>
          </a:xfrm>
          <a:prstGeom prst="rect">
            <a:avLst/>
          </a:prstGeom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182" y="4907680"/>
            <a:ext cx="477107" cy="4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000">
                <a:latin typeface="微软雅黑"/>
              </a:rPr>
              <a:t>Media statements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72770" y="2297430"/>
            <a:ext cx="11081387" cy="3388360"/>
            <a:chOff x="810196" y="2623435"/>
            <a:chExt cx="9527068" cy="3832300"/>
          </a:xfrm>
        </p:grpSpPr>
        <p:sp>
          <p:nvSpPr>
            <p:cNvPr id="31" name="矩形 30"/>
            <p:cNvSpPr/>
            <p:nvPr/>
          </p:nvSpPr>
          <p:spPr>
            <a:xfrm>
              <a:off x="7350280" y="2623435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020412" y="2623436"/>
              <a:ext cx="3076608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0196" y="2623437"/>
              <a:ext cx="2956956" cy="38322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FF0000"/>
                </a:highlight>
                <a:uLnTx/>
                <a:uFillTx/>
                <a:latin typeface="微软雅黑" charset="-122"/>
                <a:ea typeface="微软雅黑" charset="-122"/>
                <a:sym typeface="Helvetica Neue" panose="02000503000000020004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56757" y="2776084"/>
              <a:ext cx="2664661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lang="zh-CN">
                  <a:solidFill>
                    <a:srgbClr val="C00000"/>
                  </a:solidFill>
                  <a:latin typeface="微软雅黑"/>
                </a:rPr>
                <a:t>Promote the intelligent evolution of all GAC Toyota models</a:t>
              </a:r>
            </a:p>
            <a:p>
              <a:r>
                <a:t>————</a:t>
              </a:r>
            </a:p>
            <a:p>
              <a:r>
                <a:t>Using smart technology as the entry point, the smart upgrade of the Wildlander enhances its benchmark significance for the intelligent transformation of joint-venture automakers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99471" y="4645764"/>
              <a:ext cx="2664661" cy="10780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sz="800">
                  <a:latin typeface="微软雅黑"/>
                </a:rPr>
                <a:t>Example topics</a:t>
              </a:r>
            </a:p>
            <a:p>
              <a:r>
                <a:t>#Wildlander major refresh, upgrade of GAC Toyota’s brand strategy#</a:t>
              </a:r>
            </a:p>
            <a:p>
              <a:r>
                <a:t>#GAC Toyota announces the “Intelligent Evolution, Same Intelligence for ICE and EV” strategy; intelligent electrification enters the second half#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140065" y="2774257"/>
              <a:ext cx="2956955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>
                  <a:solidFill>
                    <a:srgbClr val="C00000"/>
                  </a:solidFill>
                  <a:latin typeface="微软雅黑"/>
                </a:rPr>
                <a:t>Brand strategy rebuilds market competitiveness</a:t>
              </a:r>
            </a:p>
            <a:p>
              <a:r>
                <a:t>————</a:t>
              </a:r>
            </a:p>
            <a:p>
              <a:r>
                <a:t>Using the strategy of smart upgrades across all GAC Toyota models as the entry point, examine its impact on the industry’s technology routes and user perceptions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25807" y="2775693"/>
              <a:ext cx="2911457" cy="1732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i="0" u="none" lang="zh-CN">
                  <a:solidFill>
                    <a:srgbClr val="C00000"/>
                  </a:solidFill>
                  <a:latin typeface="微软雅黑"/>
                </a:rPr>
                <a:t>Wildlander major refresh: smart taste is the core highlight</a:t>
              </a:r>
            </a:p>
            <a:p>
              <a:r>
                <a:t>————</a:t>
              </a:r>
            </a:p>
            <a:p>
              <a:r>
                <a:t>Using the Wildlander refresh news as the entry point, focus on specific product upgrade points to raise expectations for the new Wildlander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38973" y="4646077"/>
              <a:ext cx="2956956" cy="1147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sz="1200">
                  <a:latin typeface="微软雅黑"/>
                </a:rPr>
                <a:t>Example topics</a:t>
              </a:r>
            </a:p>
            <a:p>
              <a:r>
                <a:t>#Global debut of the Wildlander, potentially reshaping the hybrid competitive landscape#</a:t>
              </a:r>
            </a:p>
            <a:p>
              <a:r>
                <a:t>#Global debut of the new Wildlander, GAC Toyota takes another key step in intelligent electrification#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9002" t="23449" r="13178" b="3665"/>
          <a:stretch>
            <a:fillRect/>
          </a:stretch>
        </p:blipFill>
        <p:spPr>
          <a:xfrm>
            <a:off x="6313713" y="5023444"/>
            <a:ext cx="411654" cy="38555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7191" y="967335"/>
            <a:ext cx="11505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b="1" i="0" u="none" lang="zh-CN">
                <a:latin typeface="微软雅黑"/>
              </a:rPr>
              <a:t>Central party-and-government media and leading industry influencers take a clear stance, further amplifying the spotlight</a:t>
            </a:r>
          </a:p>
          <a:p>
            <a:r>
              <a:t>Through dissemination of #GAC Toyota’s grand brand strategy# and #Wildlander major refresh#, raise value expectations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435912" y="5258498"/>
            <a:ext cx="25253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i="0" u="none">
                <a:latin typeface="微软雅黑"/>
              </a:rPr>
              <a:t>@Understand Cars in 30 Seconds, @Yan Chuang Talks Cars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445856" y="5079971"/>
            <a:ext cx="2104752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i="0" u="none">
                <a:latin typeface="微软雅黑"/>
              </a:rPr>
              <a:t>@Sohu Auto, @Autohome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41351" y="5188648"/>
            <a:ext cx="2567658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latin typeface="微软雅黑"/>
              </a:rPr>
              <a:t>@People’s Daily, @Xinhua News Agency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90" y="5064554"/>
            <a:ext cx="525187" cy="525187"/>
          </a:xfrm>
          <a:prstGeom prst="rect">
            <a:avLst/>
          </a:prstGeom>
        </p:spPr>
      </p:pic>
      <p:pic>
        <p:nvPicPr>
          <p:cNvPr id="43" name="图片 42" descr="徽标, 公司名称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133" y="5064554"/>
            <a:ext cx="579707" cy="525188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192607" y="3989913"/>
            <a:ext cx="34394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200">
                <a:latin typeface="微软雅黑"/>
              </a:rPr>
              <a:t>Example topics</a:t>
            </a:r>
          </a:p>
          <a:p>
            <a:r>
              <a:t>#Wildlander global premiere—how long until domestic launch?#</a:t>
            </a:r>
          </a:p>
          <a:p/>
          <a:p>
            <a:r>
              <a:t>#The smartest Wildlander ever, coming soon#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673132" y="5924280"/>
            <a:ext cx="907232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微软雅黑"/>
              </a:rPr>
              <a:t>Deepen GAC Toyota’s “Same Intelligence for ICE and EV” grand brand strategy and raise expectations</a:t>
            </a:r>
          </a:p>
        </p:txBody>
      </p:sp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752"/>
          <a:stretch>
            <a:fillRect/>
          </a:stretch>
        </p:blipFill>
        <p:spPr>
          <a:xfrm>
            <a:off x="6792407" y="5004054"/>
            <a:ext cx="817751" cy="4049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6356" y="5128263"/>
            <a:ext cx="477108" cy="477108"/>
          </a:xfrm>
          <a:prstGeom prst="rect">
            <a:avLst/>
          </a:prstGeom>
        </p:spPr>
      </p:pic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182" y="5136280"/>
            <a:ext cx="477107" cy="47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000">
                <a:latin typeface="微软雅黑"/>
              </a:rPr>
              <a:t>Media statements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t="9473" r="23286" b="4224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949940" y="2347504"/>
              <a:ext cx="175098" cy="145915"/>
            </a:xfrm>
            <a:prstGeom prst="rect">
              <a:avLst/>
            </a:prstGeom>
            <a:solidFill>
              <a:srgbClr val="A4C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802329" y="2369391"/>
              <a:ext cx="175098" cy="248056"/>
            </a:xfrm>
            <a:prstGeom prst="rect">
              <a:avLst/>
            </a:prstGeom>
            <a:solidFill>
              <a:srgbClr val="0E46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" name="图片 11" descr="汽车在马路上行驶着一辆蓝色的烟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1" t="4714" r="8395" b="9354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458673" y="3981691"/>
              <a:ext cx="474562" cy="231494"/>
            </a:xfrm>
            <a:prstGeom prst="rect">
              <a:avLst/>
            </a:prstGeom>
            <a:solidFill>
              <a:srgbClr val="274D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58673" y="3877519"/>
              <a:ext cx="474562" cy="115747"/>
            </a:xfrm>
            <a:prstGeom prst="rect">
              <a:avLst/>
            </a:prstGeom>
            <a:solidFill>
              <a:srgbClr val="307E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9903" y="553288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8700" b="1" i="1">
                <a:latin typeface="微软雅黑"/>
              </a:rPr>
              <a:t>A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915353" y="708655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8700" b="1" i="1">
                <a:latin typeface="微软雅黑"/>
              </a:rPr>
              <a:t>B</a:t>
            </a:r>
          </a:p>
        </p:txBody>
      </p:sp>
      <p:sp>
        <p:nvSpPr>
          <p:cNvPr id="7" name="矩形 6"/>
          <p:cNvSpPr/>
          <p:nvPr/>
        </p:nvSpPr>
        <p:spPr>
          <a:xfrm>
            <a:off x="15851" y="0"/>
            <a:ext cx="6096000" cy="6858000"/>
          </a:xfrm>
          <a:prstGeom prst="rect">
            <a:avLst/>
          </a:prstGeom>
          <a:solidFill>
            <a:schemeClr val="accent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030A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01303" y="848181"/>
            <a:ext cx="10969200" cy="705600"/>
          </a:xfrm>
          <a:solidFill>
            <a:schemeClr val="tx1">
              <a:lumMod val="85000"/>
              <a:lumOff val="15000"/>
              <a:alpha val="51000"/>
            </a:schemeClr>
          </a:solidFill>
        </p:spPr>
        <p:txBody>
          <a:bodyPr>
            <a:noAutofit/>
          </a:bodyPr>
          <a:lstStyle/>
          <a:p>
            <a:pPr/>
            <a:r>
              <a:rPr b="1">
                <a:latin typeface="微软雅黑"/>
              </a:rPr>
              <a:t>#Weilander China cabin, perceptual hybrid duality#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681247" y="2967875"/>
            <a:ext cx="305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800" b="1" i="1"/>
              <a:t>Static smart cabin test drive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701166" y="3013278"/>
            <a:ext cx="37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800" b="1" i="1"/>
              <a:t>Dynamic dual-engine perceptual test drive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992941" y="1862531"/>
            <a:ext cx="792287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latin typeface="+mj-ea"/>
              </a:rPr>
              <a:t>A single test drive route cannot demonstrate the new Weilander’s multidimensional improvements</a:t>
            </a:r>
          </a:p>
          <a:p>
            <a:r>
              <a:t>Each test drive is divided into two sections—A and B—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701166" y="3842154"/>
            <a:ext cx="5178230" cy="2304481"/>
          </a:xfrm>
          <a:prstGeom prst="roundRect">
            <a:avLst>
              <a:gd name="adj" fmla="val 11002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>
            <a:spAutoFit/>
          </a:bodyPr>
          <a:lstStyle/>
          <a:p>
            <a:pPr/>
            <a:r>
              <a:rPr sz="1200" b="1">
                <a:latin typeface="+mj-ea"/>
              </a:rPr>
              <a:t>More powerful: 5th-generation 2.0/2.5L HEV system, 32% higher output, millisecond response comparable to EVs</a:t>
            </a:r>
          </a:p>
          <a:p>
            <a:r>
              <a:t>More rugged: bold front fascia that conveys strength, enhanced SUV character, rugged C-position design</a:t>
            </a:r>
          </a:p>
          <a:p>
            <a:r>
              <a:t>More fuel-efficient: fuel consumption as low as 4.2L, about 30% lower than same-class gasoline vehicles, ultra-long range of over 1,000 km, no need to visit a gas station for a month under normal use</a:t>
            </a:r>
          </a:p>
          <a:p>
            <a:r>
              <a:t>…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44706" y="3842154"/>
            <a:ext cx="4810467" cy="1891106"/>
          </a:xfrm>
          <a:prstGeom prst="roundRect">
            <a:avLst>
              <a:gd name="adj" fmla="val 926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/>
          <a:p>
            <a:pPr/>
            <a:r>
              <a:rPr sz="1400" b="1">
                <a:latin typeface="+mj-ea"/>
              </a:rPr>
              <a:t>Discover empathy: daily conversation and multi-person simultaneous conversation, 1-second-class response speed, responds to multiple intents with a single utterance</a:t>
            </a:r>
          </a:p>
          <a:p>
            <a:r>
              <a:t>Feel smoothness: OMS cabin sensing system, AI video sensing technology, Yancheng operation functions</a:t>
            </a:r>
          </a:p>
          <a:p>
            <a:r>
              <a:t>Enjoy comfort: 15.6-inch ultra-large display, integrated physical button functions</a:t>
            </a:r>
          </a:p>
          <a:p>
            <a:r>
              <a:t>…</a:t>
            </a: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000">
                <a:latin typeface="微软雅黑"/>
              </a:rPr>
              <a:t>Test Drive Play 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rcRect t="9473" r="23286" b="4224"/>
            <a:stretch>
              <a:fillRect/>
            </a:stretch>
          </p:blipFill>
          <p:spPr>
            <a:xfrm>
              <a:off x="0" y="0"/>
              <a:ext cx="6096000" cy="685800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949940" y="2347504"/>
              <a:ext cx="175098" cy="145915"/>
            </a:xfrm>
            <a:prstGeom prst="rect">
              <a:avLst/>
            </a:prstGeom>
            <a:solidFill>
              <a:srgbClr val="A4C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802329" y="2369391"/>
              <a:ext cx="175098" cy="248056"/>
            </a:xfrm>
            <a:prstGeom prst="rect">
              <a:avLst/>
            </a:prstGeom>
            <a:solidFill>
              <a:srgbClr val="0E467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pic>
          <p:nvPicPr>
            <p:cNvPr id="12" name="图片 11" descr="汽车在马路上行驶着一辆蓝色的烟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1" t="4714" r="8395" b="9354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6458673" y="3981691"/>
              <a:ext cx="474562" cy="231494"/>
            </a:xfrm>
            <a:prstGeom prst="rect">
              <a:avLst/>
            </a:prstGeom>
            <a:solidFill>
              <a:srgbClr val="274D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458673" y="3877519"/>
              <a:ext cx="474562" cy="115747"/>
            </a:xfrm>
            <a:prstGeom prst="rect">
              <a:avLst/>
            </a:prstGeom>
            <a:solidFill>
              <a:srgbClr val="307E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89903" y="553288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8700" b="1" i="1">
                <a:latin typeface="微软雅黑"/>
              </a:rPr>
              <a:t>A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915353" y="708655"/>
            <a:ext cx="206438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8700" b="1" i="1">
                <a:latin typeface="微软雅黑"/>
              </a:rPr>
              <a:t>B</a:t>
            </a:r>
          </a:p>
        </p:txBody>
      </p:sp>
      <p:sp>
        <p:nvSpPr>
          <p:cNvPr id="7" name="矩形 6"/>
          <p:cNvSpPr/>
          <p:nvPr/>
        </p:nvSpPr>
        <p:spPr>
          <a:xfrm>
            <a:off x="15851" y="0"/>
            <a:ext cx="6096000" cy="6858000"/>
          </a:xfrm>
          <a:prstGeom prst="rect">
            <a:avLst/>
          </a:prstGeom>
          <a:solidFill>
            <a:schemeClr val="accent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7030A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01303" y="1026616"/>
            <a:ext cx="10969200" cy="705600"/>
          </a:xfrm>
          <a:solidFill>
            <a:schemeClr val="tx1">
              <a:lumMod val="85000"/>
              <a:lumOff val="15000"/>
              <a:alpha val="51000"/>
            </a:schemeClr>
          </a:solidFill>
        </p:spPr>
        <p:txBody>
          <a:bodyPr>
            <a:noAutofit/>
          </a:bodyPr>
          <a:lstStyle/>
          <a:p>
            <a:pPr/>
            <a:r>
              <a:rPr sz="2800" b="1">
                <a:latin typeface="微软雅黑"/>
              </a:rPr>
              <a:t>#Weylander China Cabin, Perceptive Hybrid Duality#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552977" y="2905645"/>
            <a:ext cx="305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800" b="1" i="1"/>
              <a:t>Static Smart Cabin Test Drive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854201" y="2945333"/>
            <a:ext cx="373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800" b="1" i="1"/>
              <a:t>Dynamic Dual-Engine Perception Test Drive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992941" y="2014296"/>
            <a:ext cx="792287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latin typeface="+mj-ea"/>
              </a:rPr>
              <a:t>A test drive on a single route cannot demonstrate the new Weylander’s multidimensional improvements.</a:t>
            </a:r>
          </a:p>
          <a:p>
            <a:r>
              <a:t>Each test drive is divided into two sections—A and B—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6701166" y="3842154"/>
            <a:ext cx="5178230" cy="2304481"/>
          </a:xfrm>
          <a:prstGeom prst="roundRect">
            <a:avLst>
              <a:gd name="adj" fmla="val 11002"/>
            </a:avLst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>
            <a:spAutoFit/>
          </a:bodyPr>
          <a:lstStyle/>
          <a:p>
            <a:pPr/>
            <a:r>
              <a:rPr sz="1200" b="1">
                <a:latin typeface="+mj-ea"/>
              </a:rPr>
              <a:t>More powerful: 5th-generation 2.0/2.5L HEV system, 32% higher output, millisecond response comparable to an EV</a:t>
            </a:r>
          </a:p>
          <a:p>
            <a:r>
              <a:t>More rugged: a bold front fascia that conveys strength, enhanced SUV character, and a rugged C-position design</a:t>
            </a:r>
          </a:p>
          <a:p>
            <a:r>
              <a:t>More fuel-efficient: fuel consumption as low as 4.2L, about 30% lower than gasoline vehicles in the same class, 1,000+ km ultra-long range, and with normal use you won’t need to visit a gas station for a month</a:t>
            </a:r>
          </a:p>
          <a:p>
            <a:r>
              <a:t>…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44706" y="3842154"/>
            <a:ext cx="4810467" cy="1891106"/>
          </a:xfrm>
          <a:prstGeom prst="roundRect">
            <a:avLst>
              <a:gd name="adj" fmla="val 9268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>
            <a:noAutofit/>
          </a:bodyPr>
          <a:lstStyle/>
          <a:p>
            <a:pPr/>
            <a:r>
              <a:rPr sz="1400" b="1">
                <a:latin typeface="+mj-ea"/>
              </a:rPr>
              <a:t>Discover empathy: everyday conversation and multi-person simultaneous conversation, 1-second-class response speed, responding to multiple intents with a single sentence</a:t>
            </a:r>
          </a:p>
          <a:p>
            <a:r>
              <a:t>Feel the smoothness: OMS cabin sensing system, AI visual sensing technology, Yancheng operation functions</a:t>
            </a:r>
          </a:p>
          <a:p>
            <a:r>
              <a:t>Enjoy comfort: 15.6-inch ultra-large display, integrated physical button functions</a:t>
            </a:r>
          </a:p>
          <a:p>
            <a:r>
              <a:t>…</a:t>
            </a: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214630" y="228600"/>
            <a:ext cx="217741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228600"/>
            <a:ext cx="146685" cy="527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00685" y="180975"/>
            <a:ext cx="1804670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sz="2000">
                <a:latin typeface="微软雅黑"/>
              </a:rPr>
              <a:t>Test Drive Play 01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08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4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5.xml><?xml version="1.0" encoding="utf-8"?>
<p:tagLst xmlns:p="http://schemas.openxmlformats.org/presentationml/2006/main">
  <p:tag name="KSO_WM_BEAUTIFY_FLAG" val=""/>
  <p:tag name="KSO_WM_DIAGRAM_VIRTUALLY_FRAME" val="{&quot;height&quot;:451.65007874015737,&quot;left&quot;:18.449842519685035,&quot;top&quot;:115.58236220472443,&quot;width&quot;:912.75031496063}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20.xml><?xml version="1.0" encoding="utf-8"?>
<p:tagLst xmlns:p="http://schemas.openxmlformats.org/presentationml/2006/main">
  <p:tag name="KSO_WM_DIAGRAM_VIRTUALLY_FRAME" val="{&quot;height&quot;:451.65007874015737,&quot;left&quot;:18.449842519685035,&quot;top&quot;:115.58236220472443,&quot;width&quot;:912.75031496063}"/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3146</Words>
  <Application>WPS 文字</Application>
  <PresentationFormat>宽屏</PresentationFormat>
  <Paragraphs>216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微软雅黑</vt:lpstr>
      <vt:lpstr>Times New Roman</vt:lpstr>
      <vt:lpstr>Helvetica Neue</vt:lpstr>
      <vt:lpstr>LANTINGHEI SC DEMIBOLD</vt:lpstr>
      <vt:lpstr>Arial</vt:lpstr>
      <vt:lpstr>微软雅黑 Light</vt:lpstr>
      <vt:lpstr>Lato Light</vt:lpstr>
      <vt:lpstr>汉仪中黑KW</vt:lpstr>
      <vt:lpstr>Thonburi</vt:lpstr>
      <vt:lpstr>微软雅黑 Light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#ウェイランダー中国キャビン、知覚ハイブリッド二面派#</vt:lpstr>
      <vt:lpstr>#ウェイランダー中国キャビン、知覚ハイブリッド二面派#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欧欧欧欧秋子</cp:lastModifiedBy>
  <cp:revision>162</cp:revision>
  <dcterms:created xsi:type="dcterms:W3CDTF">2026-02-03T10:37:57Z</dcterms:created>
  <dcterms:modified xsi:type="dcterms:W3CDTF">2026-02-03T10:37:57Z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2052-7.4.1.8983</vt:lpwstr>
  </property>
  <property fmtid="{D5CDD505-2E9C-101B-9397-08002B2CF9AE}" pid="3" name="ICV">
    <vt:lpwstr>0DA009292B25D2F8E3C68169B347E56D_41</vt:lpwstr>
  </property>
</Properties>
</file>