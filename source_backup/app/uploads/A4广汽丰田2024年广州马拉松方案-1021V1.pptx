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6858000" cy="9906000" type="A4"/>
  <p:notesSz cx="6797675" cy="992632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guide id="2" pos="2154" userDrawn="1">
          <p15:clr>
            <a:srgbClr val="A4A3A4"/>
          </p15:clr>
        </p15:guide>
        <p15:guide id="1" orient="horz" pos="352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41"/>
    <p:restoredTop sz="94651"/>
  </p:normalViewPr>
  <p:slideViewPr>
    <p:cSldViewPr snapToGrid="0" showGuides="1">
      <p:cViewPr>
        <p:scale>
          <a:sx n="70" d="100"/>
          <a:sy n="70" d="100"/>
        </p:scale>
        <p:origin x="1876" y="24"/>
      </p:cViewPr>
      <p:guideLst>
        <p:guide orient="horz" pos="3120"/>
        <p:guide pos="2160"/>
        <p:guide pos="2154"/>
        <p:guide orient="horz" pos="352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4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040"/>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0942" y="1240790"/>
            <a:ext cx="5955792" cy="335013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042"/>
            <a:ext cx="5438140" cy="3908489"/>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428281"/>
            <a:ext cx="2945659" cy="498039"/>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28281"/>
            <a:ext cx="2945659" cy="498039"/>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471488" y="2637014"/>
            <a:ext cx="2914650" cy="628526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3471863" y="2637014"/>
            <a:ext cx="2914650" cy="628526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472381" y="3618442"/>
            <a:ext cx="2901255" cy="532218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3471863" y="3618442"/>
            <a:ext cx="2915543" cy="532218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471488" y="527403"/>
            <a:ext cx="4350544" cy="8394877"/>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7AF37F35-7E93-438C-82FE-5159578901D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3567" y="206760"/>
            <a:ext cx="3954780" cy="337185"/>
          </a:xfrm>
          <a:prstGeom prst="rect">
            <a:avLst/>
          </a:prstGeom>
          <a:noFill/>
        </p:spPr>
        <p:txBody>
          <a:bodyPr wrap="none" rtlCol="0">
            <a:spAutoFit/>
          </a:bodyPr>
          <a:lstStyle/>
          <a:p>
            <a:pPr algn="ctr"/>
            <a:r>
              <a:rPr lang="zh-CN" altLang="en-US" sz="1600" b="1" dirty="0">
                <a:latin typeface="微软雅黑" panose="020B0503020204020204" pitchFamily="34" charset="-122"/>
                <a:ea typeface="微软雅黑" panose="020B0503020204020204" pitchFamily="34" charset="-122"/>
              </a:rPr>
              <a:t>广汽丰田</a:t>
            </a:r>
            <a:r>
              <a:rPr lang="en-US" altLang="zh-CN" sz="1600" b="1" dirty="0">
                <a:latin typeface="微软雅黑" panose="020B0503020204020204" pitchFamily="34" charset="-122"/>
                <a:ea typeface="微软雅黑" panose="020B0503020204020204" pitchFamily="34" charset="-122"/>
              </a:rPr>
              <a:t>2024</a:t>
            </a:r>
            <a:r>
              <a:rPr lang="zh-CN" altLang="en-US" sz="1600" b="1" dirty="0">
                <a:latin typeface="微软雅黑" panose="020B0503020204020204" pitchFamily="34" charset="-122"/>
                <a:ea typeface="微软雅黑" panose="020B0503020204020204" pitchFamily="34" charset="-122"/>
              </a:rPr>
              <a:t>年广州马拉松公关执行方案</a:t>
            </a:r>
            <a:endParaRPr lang="zh-CN" altLang="en-US" sz="1600" b="1" dirty="0">
              <a:latin typeface="微软雅黑" panose="020B0503020204020204" pitchFamily="34" charset="-122"/>
              <a:ea typeface="微软雅黑" panose="020B0503020204020204" pitchFamily="34" charset="-122"/>
            </a:endParaRPr>
          </a:p>
        </p:txBody>
      </p:sp>
      <p:sp>
        <p:nvSpPr>
          <p:cNvPr id="5" name="矩形 4"/>
          <p:cNvSpPr/>
          <p:nvPr/>
        </p:nvSpPr>
        <p:spPr>
          <a:xfrm>
            <a:off x="1" y="551385"/>
            <a:ext cx="6858000" cy="23791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100" b="1" dirty="0">
                <a:latin typeface="微软雅黑" panose="020B0503020204020204" pitchFamily="34" charset="-122"/>
                <a:ea typeface="微软雅黑" panose="020B0503020204020204" pitchFamily="34" charset="-122"/>
              </a:rPr>
              <a:t>一，项目背景</a:t>
            </a:r>
            <a:endParaRPr lang="zh-CN" altLang="en-US" sz="1100" b="1" dirty="0">
              <a:latin typeface="微软雅黑" panose="020B0503020204020204" pitchFamily="34" charset="-122"/>
              <a:ea typeface="微软雅黑" panose="020B0503020204020204" pitchFamily="34" charset="-122"/>
            </a:endParaRPr>
          </a:p>
        </p:txBody>
      </p:sp>
      <p:sp>
        <p:nvSpPr>
          <p:cNvPr id="6" name="矩形 5"/>
          <p:cNvSpPr/>
          <p:nvPr/>
        </p:nvSpPr>
        <p:spPr>
          <a:xfrm>
            <a:off x="0" y="791210"/>
            <a:ext cx="6858000" cy="1185545"/>
          </a:xfrm>
          <a:prstGeom prst="rect">
            <a:avLst/>
          </a:prstGeom>
          <a:ln>
            <a:solidFill>
              <a:schemeClr val="tx1"/>
            </a:solidFill>
          </a:ln>
        </p:spPr>
        <p:txBody>
          <a:bodyPr wrap="square">
            <a:noAutofit/>
          </a:bodyPr>
          <a:lstStyle/>
          <a:p>
            <a:pPr indent="0" fontAlgn="auto">
              <a:lnSpc>
                <a:spcPts val="1500"/>
              </a:lnSpc>
            </a:pPr>
            <a:r>
              <a:rPr lang="en-US" altLang="zh-CN" sz="900" dirty="0">
                <a:solidFill>
                  <a:srgbClr val="000000"/>
                </a:solidFill>
                <a:latin typeface="微软雅黑" panose="020B0503020204020204" pitchFamily="34" charset="-122"/>
                <a:ea typeface="微软雅黑" panose="020B0503020204020204" pitchFamily="34" charset="-122"/>
                <a:sym typeface="+mn-ea"/>
              </a:rPr>
              <a:t>1</a:t>
            </a:r>
            <a:r>
              <a:rPr lang="zh-CN" altLang="en-US" sz="900" dirty="0">
                <a:solidFill>
                  <a:srgbClr val="000000"/>
                </a:solidFill>
                <a:latin typeface="微软雅黑" panose="020B0503020204020204" pitchFamily="34" charset="-122"/>
                <a:ea typeface="微软雅黑" panose="020B0503020204020204" pitchFamily="34" charset="-122"/>
                <a:sym typeface="+mn-ea"/>
              </a:rPr>
              <a:t>、</a:t>
            </a:r>
            <a:r>
              <a:rPr lang="zh-CN" altLang="en-US" sz="900" b="1" dirty="0">
                <a:solidFill>
                  <a:srgbClr val="000000"/>
                </a:solidFill>
                <a:latin typeface="微软雅黑" panose="020B0503020204020204" pitchFamily="34" charset="-122"/>
                <a:ea typeface="微软雅黑" panose="020B0503020204020204" pitchFamily="34" charset="-122"/>
                <a:sym typeface="+mn-ea"/>
              </a:rPr>
              <a:t>品牌理念传递</a:t>
            </a:r>
            <a:r>
              <a:rPr lang="en-US" altLang="zh-CN" sz="900" b="1" dirty="0">
                <a:solidFill>
                  <a:srgbClr val="000000"/>
                </a:solidFill>
                <a:latin typeface="微软雅黑" panose="020B0503020204020204" pitchFamily="34" charset="-122"/>
                <a:ea typeface="微软雅黑" panose="020B0503020204020204" pitchFamily="34" charset="-122"/>
                <a:sym typeface="+mn-ea"/>
              </a:rPr>
              <a:t>：</a:t>
            </a:r>
            <a:r>
              <a:rPr lang="en-US" altLang="zh-CN" sz="900" dirty="0">
                <a:solidFill>
                  <a:srgbClr val="000000"/>
                </a:solidFill>
                <a:latin typeface="微软雅黑" panose="020B0503020204020204" pitchFamily="34" charset="-122"/>
                <a:ea typeface="微软雅黑" panose="020B0503020204020204" pitchFamily="34" charset="-122"/>
                <a:sym typeface="+mn-ea"/>
              </a:rPr>
              <a:t>2024</a:t>
            </a:r>
            <a:r>
              <a:rPr lang="zh-CN" altLang="en-US" sz="900" dirty="0">
                <a:solidFill>
                  <a:srgbClr val="000000"/>
                </a:solidFill>
                <a:latin typeface="微软雅黑" panose="020B0503020204020204" pitchFamily="34" charset="-122"/>
                <a:ea typeface="微软雅黑" panose="020B0503020204020204" pitchFamily="34" charset="-122"/>
                <a:sym typeface="+mn-ea"/>
              </a:rPr>
              <a:t>年</a:t>
            </a:r>
            <a:r>
              <a:rPr lang="zh-CN" altLang="en-US" sz="900" dirty="0">
                <a:latin typeface="微软雅黑" panose="020B0503020204020204" pitchFamily="34" charset="-122"/>
                <a:ea typeface="微软雅黑" panose="020B0503020204020204" pitchFamily="34" charset="-122"/>
                <a:sym typeface="+mn-ea"/>
              </a:rPr>
              <a:t>广州马拉松赛将于</a:t>
            </a:r>
            <a:r>
              <a:rPr lang="en-US" altLang="zh-CN" sz="900" dirty="0">
                <a:latin typeface="微软雅黑" panose="020B0503020204020204" pitchFamily="34" charset="-122"/>
                <a:ea typeface="微软雅黑" panose="020B0503020204020204" pitchFamily="34" charset="-122"/>
                <a:sym typeface="+mn-ea"/>
              </a:rPr>
              <a:t>12</a:t>
            </a:r>
            <a:r>
              <a:rPr lang="zh-CN" altLang="en-US" sz="900" dirty="0">
                <a:latin typeface="微软雅黑" panose="020B0503020204020204" pitchFamily="34" charset="-122"/>
                <a:ea typeface="微软雅黑" panose="020B0503020204020204" pitchFamily="34" charset="-122"/>
                <a:sym typeface="+mn-ea"/>
              </a:rPr>
              <a:t>月</a:t>
            </a:r>
            <a:r>
              <a:rPr lang="en-US" altLang="zh-CN" sz="900" dirty="0">
                <a:latin typeface="微软雅黑" panose="020B0503020204020204" pitchFamily="34" charset="-122"/>
                <a:ea typeface="微软雅黑" panose="020B0503020204020204" pitchFamily="34" charset="-122"/>
                <a:sym typeface="+mn-ea"/>
              </a:rPr>
              <a:t>8</a:t>
            </a:r>
            <a:r>
              <a:rPr lang="zh-CN" altLang="en-US" sz="900" dirty="0">
                <a:latin typeface="微软雅黑" panose="020B0503020204020204" pitchFamily="34" charset="-122"/>
                <a:ea typeface="微软雅黑" panose="020B0503020204020204" pitchFamily="34" charset="-122"/>
                <a:sym typeface="+mn-ea"/>
              </a:rPr>
              <a:t>日（星期日）鸣枪起跑，</a:t>
            </a:r>
            <a:r>
              <a:rPr lang="zh-CN" altLang="en-US" sz="900" dirty="0">
                <a:solidFill>
                  <a:srgbClr val="000000"/>
                </a:solidFill>
                <a:latin typeface="微软雅黑" panose="020B0503020204020204" pitchFamily="34" charset="-122"/>
                <a:ea typeface="微软雅黑" panose="020B0503020204020204" pitchFamily="34" charset="-122"/>
                <a:sym typeface="+mn-ea"/>
              </a:rPr>
              <a:t>广汽丰田将作为</a:t>
            </a:r>
            <a:r>
              <a:rPr lang="zh-CN" altLang="en-US" sz="900" dirty="0">
                <a:latin typeface="微软雅黑" panose="020B0503020204020204" pitchFamily="34" charset="-122"/>
                <a:ea typeface="微软雅黑" panose="020B0503020204020204" pitchFamily="34" charset="-122"/>
                <a:sym typeface="+mn-ea"/>
              </a:rPr>
              <a:t>广马冠名赞助商继续助力广州马拉松赛</a:t>
            </a:r>
            <a:r>
              <a:rPr lang="zh-CN" altLang="en-US" sz="900" dirty="0">
                <a:solidFill>
                  <a:srgbClr val="000000"/>
                </a:solidFill>
                <a:latin typeface="微软雅黑" panose="020B0503020204020204" pitchFamily="34" charset="-122"/>
                <a:ea typeface="微软雅黑" panose="020B0503020204020204" pitchFamily="34" charset="-122"/>
                <a:sym typeface="+mn-ea"/>
              </a:rPr>
              <a:t>，借助广州马拉松的挑战极限、超越自我的精神，展示广汽丰田追求卓越、不断进取创新的品牌理念；</a:t>
            </a:r>
            <a:endParaRPr lang="en-US" altLang="zh-CN" sz="900" dirty="0">
              <a:latin typeface="微软雅黑" panose="020B0503020204020204" pitchFamily="34" charset="-122"/>
              <a:ea typeface="微软雅黑" panose="020B0503020204020204" pitchFamily="34" charset="-122"/>
            </a:endParaRPr>
          </a:p>
          <a:p>
            <a:pPr indent="0" fontAlgn="auto">
              <a:lnSpc>
                <a:spcPts val="1500"/>
              </a:lnSpc>
            </a:pPr>
            <a:r>
              <a:rPr lang="en-US" altLang="zh-CN" sz="900" dirty="0">
                <a:latin typeface="微软雅黑" panose="020B0503020204020204" pitchFamily="34" charset="-122"/>
                <a:ea typeface="微软雅黑" panose="020B0503020204020204" pitchFamily="34" charset="-122"/>
                <a:sym typeface="+mn-ea"/>
              </a:rPr>
              <a:t>2</a:t>
            </a:r>
            <a:r>
              <a:rPr lang="zh-CN" altLang="en-US" sz="900" dirty="0">
                <a:latin typeface="微软雅黑" panose="020B0503020204020204" pitchFamily="34" charset="-122"/>
                <a:ea typeface="微软雅黑" panose="020B0503020204020204" pitchFamily="34" charset="-122"/>
                <a:sym typeface="+mn-ea"/>
              </a:rPr>
              <a:t>、</a:t>
            </a:r>
            <a:r>
              <a:rPr lang="en-US" altLang="zh-CN" sz="900" b="1" dirty="0">
                <a:latin typeface="微软雅黑" panose="020B0503020204020204" pitchFamily="34" charset="-122"/>
                <a:ea typeface="微软雅黑" panose="020B0503020204020204" pitchFamily="34" charset="-122"/>
                <a:sym typeface="+mn-ea"/>
              </a:rPr>
              <a:t>【</a:t>
            </a:r>
            <a:r>
              <a:rPr lang="zh-CN" altLang="en-US" sz="900" b="1" dirty="0">
                <a:latin typeface="微软雅黑" panose="020B0503020204020204" pitchFamily="34" charset="-122"/>
                <a:ea typeface="微软雅黑" panose="020B0503020204020204" pitchFamily="34" charset="-122"/>
                <a:sym typeface="+mn-ea"/>
              </a:rPr>
              <a:t>丰跑团</a:t>
            </a:r>
            <a:r>
              <a:rPr lang="en-US" altLang="zh-CN" sz="900" b="1" dirty="0">
                <a:latin typeface="微软雅黑" panose="020B0503020204020204" pitchFamily="34" charset="-122"/>
                <a:ea typeface="微软雅黑" panose="020B0503020204020204" pitchFamily="34" charset="-122"/>
                <a:sym typeface="+mn-ea"/>
              </a:rPr>
              <a:t>】</a:t>
            </a:r>
            <a:r>
              <a:rPr lang="zh-CN" altLang="en-US" sz="900" b="1" dirty="0">
                <a:latin typeface="微软雅黑" panose="020B0503020204020204" pitchFamily="34" charset="-122"/>
                <a:ea typeface="微软雅黑" panose="020B0503020204020204" pitchFamily="34" charset="-122"/>
                <a:sym typeface="+mn-ea"/>
              </a:rPr>
              <a:t>运营</a:t>
            </a:r>
            <a:r>
              <a:rPr lang="en-US" altLang="zh-CN" sz="900" b="1" dirty="0">
                <a:latin typeface="微软雅黑" panose="020B0503020204020204" pitchFamily="34" charset="-122"/>
                <a:ea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sym typeface="+mn-ea"/>
              </a:rPr>
              <a:t>广汽丰田深耕体育营销不仅在于长期坚持创新和多元化探索，值广汽丰田</a:t>
            </a:r>
            <a:r>
              <a:rPr lang="en-US" altLang="zh-CN" sz="900" dirty="0">
                <a:latin typeface="微软雅黑" panose="020B0503020204020204" pitchFamily="34" charset="-122"/>
                <a:ea typeface="微软雅黑" panose="020B0503020204020204" pitchFamily="34" charset="-122"/>
                <a:sym typeface="+mn-ea"/>
              </a:rPr>
              <a:t>20</a:t>
            </a:r>
            <a:r>
              <a:rPr lang="zh-CN" altLang="en-US" sz="900" dirty="0">
                <a:latin typeface="微软雅黑" panose="020B0503020204020204" pitchFamily="34" charset="-122"/>
                <a:ea typeface="微软雅黑" panose="020B0503020204020204" pitchFamily="34" charset="-122"/>
                <a:sym typeface="+mn-ea"/>
              </a:rPr>
              <a:t>周年之际延续</a:t>
            </a:r>
            <a:r>
              <a:rPr lang="en-US" altLang="zh-CN" sz="900" dirty="0">
                <a:latin typeface="微软雅黑" panose="020B0503020204020204" pitchFamily="34" charset="-122"/>
                <a:ea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sym typeface="+mn-ea"/>
              </a:rPr>
              <a:t>丰跑团</a:t>
            </a:r>
            <a:r>
              <a:rPr lang="en-US" altLang="zh-CN" sz="900" dirty="0">
                <a:latin typeface="微软雅黑" panose="020B0503020204020204" pitchFamily="34" charset="-122"/>
                <a:ea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sym typeface="+mn-ea"/>
              </a:rPr>
              <a:t>运营，还体现了体育精神和广汽丰田长期主义的高度融合，更巩固了媒体关系的长线维护，持续放大广州马拉松和广汽丰田的对外影响</a:t>
            </a:r>
            <a:r>
              <a:rPr lang="en-US" altLang="zh-CN" sz="900" dirty="0">
                <a:latin typeface="微软雅黑" panose="020B0503020204020204" pitchFamily="34" charset="-122"/>
                <a:ea typeface="微软雅黑" panose="020B0503020204020204" pitchFamily="34" charset="-122"/>
                <a:sym typeface="+mn-ea"/>
              </a:rPr>
              <a:t>；</a:t>
            </a:r>
            <a:endParaRPr lang="en-US" altLang="zh-CN" sz="900" dirty="0">
              <a:latin typeface="微软雅黑" panose="020B0503020204020204" pitchFamily="34" charset="-122"/>
              <a:ea typeface="微软雅黑" panose="020B0503020204020204" pitchFamily="34" charset="-122"/>
              <a:sym typeface="+mn-ea"/>
            </a:endParaRPr>
          </a:p>
          <a:p>
            <a:pPr indent="0" fontAlgn="auto">
              <a:lnSpc>
                <a:spcPts val="1500"/>
              </a:lnSpc>
            </a:pPr>
            <a:r>
              <a:rPr lang="en-US" altLang="zh-CN" sz="900" dirty="0">
                <a:latin typeface="微软雅黑" panose="020B0503020204020204" pitchFamily="34" charset="-122"/>
                <a:ea typeface="微软雅黑" panose="020B0503020204020204" pitchFamily="34" charset="-122"/>
                <a:sym typeface="+mn-ea"/>
              </a:rPr>
              <a:t>3、</a:t>
            </a:r>
            <a:r>
              <a:rPr lang="zh-CN" altLang="en-US" sz="900" b="1" dirty="0">
                <a:latin typeface="微软雅黑" panose="020B0503020204020204" pitchFamily="34" charset="-122"/>
                <a:ea typeface="微软雅黑" panose="020B0503020204020204" pitchFamily="34" charset="-122"/>
                <a:sym typeface="+mn-ea"/>
              </a:rPr>
              <a:t>费用优化</a:t>
            </a:r>
            <a:r>
              <a:rPr lang="en-US" altLang="zh-CN" sz="900" b="1" dirty="0">
                <a:latin typeface="微软雅黑" panose="020B0503020204020204" pitchFamily="34" charset="-122"/>
                <a:ea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sym typeface="+mn-ea"/>
              </a:rPr>
              <a:t>通过轻运营、场地及物料费用多平台、多渠道比价管理等方式对费用进行优化改善</a:t>
            </a:r>
            <a:r>
              <a:rPr lang="en-US" altLang="zh-CN" sz="900" dirty="0">
                <a:latin typeface="微软雅黑" panose="020B0503020204020204" pitchFamily="34" charset="-122"/>
                <a:ea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sym typeface="+mn-ea"/>
              </a:rPr>
              <a:t>同时</a:t>
            </a:r>
            <a:r>
              <a:rPr lang="en-US" altLang="zh-CN" sz="900" dirty="0">
                <a:latin typeface="微软雅黑" panose="020B0503020204020204" pitchFamily="34" charset="-122"/>
                <a:ea typeface="微软雅黑" panose="020B0503020204020204" pitchFamily="34" charset="-122"/>
                <a:sym typeface="+mn-ea"/>
              </a:rPr>
              <a:t>24</a:t>
            </a:r>
            <a:r>
              <a:rPr lang="zh-CN" altLang="en-US" sz="900" dirty="0">
                <a:latin typeface="微软雅黑" panose="020B0503020204020204" pitchFamily="34" charset="-122"/>
                <a:ea typeface="微软雅黑" panose="020B0503020204020204" pitchFamily="34" charset="-122"/>
                <a:sym typeface="+mn-ea"/>
              </a:rPr>
              <a:t>年参与人数比</a:t>
            </a:r>
            <a:r>
              <a:rPr lang="en-US" altLang="zh-CN" sz="900" dirty="0">
                <a:latin typeface="微软雅黑" panose="020B0503020204020204" pitchFamily="34" charset="-122"/>
                <a:ea typeface="微软雅黑" panose="020B0503020204020204" pitchFamily="34" charset="-122"/>
                <a:sym typeface="+mn-ea"/>
              </a:rPr>
              <a:t>23</a:t>
            </a:r>
            <a:r>
              <a:rPr lang="zh-CN" altLang="en-US" sz="900" dirty="0">
                <a:latin typeface="微软雅黑" panose="020B0503020204020204" pitchFamily="34" charset="-122"/>
                <a:ea typeface="微软雅黑" panose="020B0503020204020204" pitchFamily="34" charset="-122"/>
                <a:sym typeface="+mn-ea"/>
              </a:rPr>
              <a:t>年减少</a:t>
            </a:r>
            <a:r>
              <a:rPr lang="en-US" altLang="zh-CN" sz="900" dirty="0">
                <a:latin typeface="微软雅黑" panose="020B0503020204020204" pitchFamily="34" charset="-122"/>
                <a:ea typeface="微软雅黑" panose="020B0503020204020204" pitchFamily="34" charset="-122"/>
                <a:sym typeface="+mn-ea"/>
              </a:rPr>
              <a:t>4</a:t>
            </a:r>
            <a:r>
              <a:rPr lang="zh-CN" altLang="en-US" sz="900" dirty="0">
                <a:latin typeface="微软雅黑" panose="020B0503020204020204" pitchFamily="34" charset="-122"/>
                <a:ea typeface="微软雅黑" panose="020B0503020204020204" pitchFamily="34" charset="-122"/>
                <a:sym typeface="+mn-ea"/>
              </a:rPr>
              <a:t>人</a:t>
            </a:r>
            <a:r>
              <a:rPr lang="en-US" altLang="zh-CN" sz="900" dirty="0">
                <a:latin typeface="微软雅黑" panose="020B0503020204020204" pitchFamily="34" charset="-122"/>
                <a:ea typeface="微软雅黑" panose="020B0503020204020204" pitchFamily="34" charset="-122"/>
                <a:sym typeface="+mn-ea"/>
              </a:rPr>
              <a:t>，</a:t>
            </a:r>
            <a:r>
              <a:rPr lang="zh-CN" altLang="en-US" sz="900" dirty="0">
                <a:latin typeface="微软雅黑" panose="020B0503020204020204" pitchFamily="34" charset="-122"/>
                <a:ea typeface="微软雅黑" panose="020B0503020204020204" pitchFamily="34" charset="-122"/>
                <a:sym typeface="+mn-ea"/>
              </a:rPr>
              <a:t>整体费用降低</a:t>
            </a:r>
            <a:r>
              <a:rPr lang="en-US" altLang="zh-CN" sz="900" dirty="0">
                <a:latin typeface="微软雅黑" panose="020B0503020204020204" pitchFamily="34" charset="-122"/>
                <a:ea typeface="微软雅黑" panose="020B0503020204020204" pitchFamily="34" charset="-122"/>
                <a:sym typeface="+mn-ea"/>
              </a:rPr>
              <a:t>11%</a:t>
            </a:r>
            <a:r>
              <a:rPr lang="zh-CN" altLang="en-US" sz="900" dirty="0">
                <a:latin typeface="微软雅黑" panose="020B0503020204020204" pitchFamily="34" charset="-122"/>
                <a:ea typeface="微软雅黑" panose="020B0503020204020204" pitchFamily="34" charset="-122"/>
                <a:sym typeface="+mn-ea"/>
              </a:rPr>
              <a:t>但接待标准保持以往水平</a:t>
            </a:r>
            <a:r>
              <a:rPr lang="en-US" altLang="zh-CN" sz="900" dirty="0">
                <a:latin typeface="微软雅黑" panose="020B0503020204020204" pitchFamily="34" charset="-122"/>
                <a:ea typeface="微软雅黑" panose="020B0503020204020204" pitchFamily="34" charset="-122"/>
                <a:sym typeface="+mn-ea"/>
              </a:rPr>
              <a:t>。</a:t>
            </a:r>
            <a:endParaRPr lang="en-US" altLang="zh-CN" sz="9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8982" y="5773276"/>
            <a:ext cx="6839491" cy="968375"/>
          </a:xfrm>
          <a:prstGeom prst="rect">
            <a:avLst/>
          </a:prstGeom>
          <a:noFill/>
          <a:ln>
            <a:solidFill>
              <a:schemeClr val="tx1"/>
            </a:solidFill>
          </a:ln>
        </p:spPr>
        <p:txBody>
          <a:bodyPr wrap="square" rtlCol="0">
            <a:spAutoFit/>
          </a:bodyPr>
          <a:lstStyle/>
          <a:p>
            <a:pPr>
              <a:lnSpc>
                <a:spcPct val="150000"/>
              </a:lnSpc>
            </a:pPr>
            <a:r>
              <a:rPr lang="zh-CN" altLang="en-US" sz="900" b="1" dirty="0">
                <a:latin typeface="微软雅黑" panose="020B0503020204020204" pitchFamily="34" charset="-122"/>
                <a:ea typeface="微软雅黑" panose="020B0503020204020204" pitchFamily="34" charset="-122"/>
              </a:rPr>
              <a:t>媒体传播计划：</a:t>
            </a:r>
            <a:endParaRPr lang="en-US" altLang="zh-CN" sz="900" b="1" dirty="0">
              <a:latin typeface="微软雅黑" panose="020B0503020204020204" pitchFamily="34" charset="-122"/>
              <a:ea typeface="微软雅黑" panose="020B0503020204020204" pitchFamily="34" charset="-122"/>
            </a:endParaRPr>
          </a:p>
          <a:p>
            <a:pPr indent="0" fontAlgn="auto">
              <a:lnSpc>
                <a:spcPts val="1200"/>
              </a:lnSpc>
            </a:pPr>
            <a:r>
              <a:rPr lang="en-US" altLang="zh-CN" sz="900" dirty="0">
                <a:latin typeface="微软雅黑" panose="020B0503020204020204" pitchFamily="34" charset="-122"/>
                <a:ea typeface="微软雅黑" panose="020B0503020204020204" pitchFamily="34" charset="-122"/>
              </a:rPr>
              <a:t>1.</a:t>
            </a:r>
            <a:r>
              <a:rPr lang="zh-CN" altLang="en-US" sz="900" dirty="0">
                <a:latin typeface="微软雅黑" panose="020B0503020204020204" pitchFamily="34" charset="-122"/>
                <a:ea typeface="微软雅黑" panose="020B0503020204020204" pitchFamily="34" charset="-122"/>
              </a:rPr>
              <a:t>广丰媒体跑团</a:t>
            </a:r>
            <a:r>
              <a:rPr lang="en-US" altLang="zh-CN" sz="900" dirty="0">
                <a:latin typeface="微软雅黑" panose="020B0503020204020204" pitchFamily="34" charset="-122"/>
                <a:ea typeface="微软雅黑" panose="020B0503020204020204" pitchFamily="34" charset="-122"/>
              </a:rPr>
              <a:t>50</a:t>
            </a:r>
            <a:r>
              <a:rPr lang="zh-CN" altLang="en-US" sz="900" dirty="0">
                <a:latin typeface="微软雅黑" panose="020B0503020204020204" pitchFamily="34" charset="-122"/>
                <a:ea typeface="微软雅黑" panose="020B0503020204020204" pitchFamily="34" charset="-122"/>
              </a:rPr>
              <a:t>家</a:t>
            </a:r>
            <a:r>
              <a:rPr lang="en-US" altLang="zh-CN" sz="900" dirty="0">
                <a:latin typeface="微软雅黑" panose="020B0503020204020204" pitchFamily="34" charset="-122"/>
                <a:ea typeface="微软雅黑" panose="020B0503020204020204" pitchFamily="34" charset="-122"/>
              </a:rPr>
              <a:t>50</a:t>
            </a:r>
            <a:r>
              <a:rPr lang="zh-CN" altLang="en-US" sz="900" dirty="0">
                <a:latin typeface="微软雅黑" panose="020B0503020204020204" pitchFamily="34" charset="-122"/>
                <a:ea typeface="微软雅黑" panose="020B0503020204020204" pitchFamily="34" charset="-122"/>
              </a:rPr>
              <a:t>人朋友圈扩散活动素材，强化广汽丰田二十周年形象以及智能化</a:t>
            </a:r>
            <a:r>
              <a:rPr lang="zh-CN" altLang="en-US" sz="900" dirty="0">
                <a:latin typeface="微软雅黑" panose="020B0503020204020204" pitchFamily="34" charset="-122"/>
                <a:ea typeface="微软雅黑" panose="020B0503020204020204" pitchFamily="34" charset="-122"/>
              </a:rPr>
              <a:t>规划。</a:t>
            </a:r>
            <a:endParaRPr lang="zh-CN" altLang="en-US" sz="900" dirty="0">
              <a:latin typeface="微软雅黑" panose="020B0503020204020204" pitchFamily="34" charset="-122"/>
              <a:ea typeface="微软雅黑" panose="020B0503020204020204" pitchFamily="34" charset="-122"/>
            </a:endParaRPr>
          </a:p>
          <a:p>
            <a:pPr indent="0" fontAlgn="auto">
              <a:lnSpc>
                <a:spcPts val="1200"/>
              </a:lnSpc>
            </a:pPr>
            <a:r>
              <a:rPr lang="en-US" altLang="zh-CN" sz="900" dirty="0">
                <a:latin typeface="微软雅黑" panose="020B0503020204020204" pitchFamily="34" charset="-122"/>
                <a:ea typeface="微软雅黑" panose="020B0503020204020204" pitchFamily="34" charset="-122"/>
              </a:rPr>
              <a:t>2.</a:t>
            </a:r>
            <a:r>
              <a:rPr lang="zh-CN" altLang="en-US" sz="900" dirty="0">
                <a:latin typeface="微软雅黑" panose="020B0503020204020204" pitchFamily="34" charset="-122"/>
                <a:ea typeface="微软雅黑" panose="020B0503020204020204" pitchFamily="34" charset="-122"/>
              </a:rPr>
              <a:t>全网发稿</a:t>
            </a:r>
            <a:r>
              <a:rPr lang="en-US" altLang="zh-CN" sz="900" dirty="0">
                <a:latin typeface="微软雅黑" panose="020B0503020204020204" pitchFamily="34" charset="-122"/>
                <a:ea typeface="微软雅黑" panose="020B0503020204020204" pitchFamily="34" charset="-122"/>
              </a:rPr>
              <a:t>50</a:t>
            </a:r>
            <a:r>
              <a:rPr lang="zh-CN" altLang="en-US" sz="900" dirty="0">
                <a:latin typeface="微软雅黑" panose="020B0503020204020204" pitchFamily="34" charset="-122"/>
                <a:ea typeface="微软雅黑" panose="020B0503020204020204" pitchFamily="34" charset="-122"/>
              </a:rPr>
              <a:t>家媒体，利用赛事权益最大程度提升广汽丰田品牌形象，助力区域</a:t>
            </a:r>
            <a:r>
              <a:rPr lang="zh-CN" altLang="en-US" sz="900" dirty="0">
                <a:latin typeface="微软雅黑" panose="020B0503020204020204" pitchFamily="34" charset="-122"/>
                <a:ea typeface="微软雅黑" panose="020B0503020204020204" pitchFamily="34" charset="-122"/>
              </a:rPr>
              <a:t>销售。</a:t>
            </a:r>
            <a:endParaRPr lang="zh-CN" altLang="en-US" sz="900" dirty="0">
              <a:latin typeface="微软雅黑" panose="020B0503020204020204" pitchFamily="34" charset="-122"/>
              <a:ea typeface="微软雅黑" panose="020B0503020204020204" pitchFamily="34" charset="-122"/>
            </a:endParaRPr>
          </a:p>
          <a:p>
            <a:pPr indent="0" fontAlgn="auto">
              <a:lnSpc>
                <a:spcPts val="1200"/>
              </a:lnSpc>
            </a:pPr>
            <a:r>
              <a:rPr lang="en-US" altLang="zh-CN" sz="900" dirty="0">
                <a:latin typeface="微软雅黑" panose="020B0503020204020204" pitchFamily="34" charset="-122"/>
                <a:ea typeface="微软雅黑" panose="020B0503020204020204" pitchFamily="34" charset="-122"/>
              </a:rPr>
              <a:t>3.</a:t>
            </a:r>
            <a:r>
              <a:rPr lang="zh-CN" altLang="en-US" sz="900" dirty="0">
                <a:latin typeface="微软雅黑" panose="020B0503020204020204" pitchFamily="34" charset="-122"/>
                <a:ea typeface="微软雅黑" panose="020B0503020204020204" pitchFamily="34" charset="-122"/>
              </a:rPr>
              <a:t>通过增加大湾区</a:t>
            </a:r>
            <a:r>
              <a:rPr lang="en-US" altLang="zh-CN" sz="900" dirty="0">
                <a:latin typeface="微软雅黑" panose="020B0503020204020204" pitchFamily="34" charset="-122"/>
                <a:ea typeface="微软雅黑" panose="020B0503020204020204" pitchFamily="34" charset="-122"/>
              </a:rPr>
              <a:t>kol</a:t>
            </a:r>
            <a:r>
              <a:rPr lang="zh-CN" altLang="en-US" sz="900" dirty="0">
                <a:latin typeface="微软雅黑" panose="020B0503020204020204" pitchFamily="34" charset="-122"/>
                <a:ea typeface="微软雅黑" panose="020B0503020204020204" pitchFamily="34" charset="-122"/>
              </a:rPr>
              <a:t>达人传播费用</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加大广马短视频二创露出</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通过</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丰跑团</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丰富广丰二十周年形象</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增强品牌影响力</a:t>
            </a:r>
            <a:r>
              <a:rPr lang="en-US" altLang="zh-CN" sz="900" dirty="0">
                <a:latin typeface="微软雅黑" panose="020B0503020204020204" pitchFamily="34" charset="-122"/>
                <a:ea typeface="微软雅黑" panose="020B0503020204020204" pitchFamily="34" charset="-122"/>
              </a:rPr>
              <a:t>。</a:t>
            </a:r>
            <a:endParaRPr lang="zh-CN" altLang="en-US" sz="900" dirty="0">
              <a:latin typeface="微软雅黑" panose="020B0503020204020204" pitchFamily="34" charset="-122"/>
              <a:ea typeface="微软雅黑" panose="020B0503020204020204" pitchFamily="34" charset="-122"/>
            </a:endParaRPr>
          </a:p>
          <a:p>
            <a:pPr>
              <a:lnSpc>
                <a:spcPct val="150000"/>
              </a:lnSpc>
            </a:pPr>
            <a:endParaRPr lang="zh-CN" altLang="en-US" sz="900" dirty="0">
              <a:latin typeface="微软雅黑" panose="020B0503020204020204" pitchFamily="34" charset="-122"/>
              <a:ea typeface="微软雅黑" panose="020B0503020204020204" pitchFamily="34" charset="-122"/>
            </a:endParaRPr>
          </a:p>
        </p:txBody>
      </p:sp>
      <p:graphicFrame>
        <p:nvGraphicFramePr>
          <p:cNvPr id="21" name="表格 20"/>
          <p:cNvGraphicFramePr>
            <a:graphicFrameLocks noGrp="1"/>
          </p:cNvGraphicFramePr>
          <p:nvPr>
            <p:custDataLst>
              <p:tags r:id="rId1"/>
            </p:custDataLst>
          </p:nvPr>
        </p:nvGraphicFramePr>
        <p:xfrm>
          <a:off x="-1" y="9305333"/>
          <a:ext cx="6866984" cy="509300"/>
        </p:xfrm>
        <a:graphic>
          <a:graphicData uri="http://schemas.openxmlformats.org/drawingml/2006/table">
            <a:tbl>
              <a:tblPr/>
              <a:tblGrid>
                <a:gridCol w="531048"/>
                <a:gridCol w="1679575"/>
                <a:gridCol w="1383030"/>
                <a:gridCol w="1276985"/>
                <a:gridCol w="1996346"/>
              </a:tblGrid>
              <a:tr h="252150">
                <a:tc rowSpan="2">
                  <a:txBody>
                    <a:bodyPr/>
                    <a:lstStyle/>
                    <a:p>
                      <a:pPr algn="ctr" fontAlgn="ctr"/>
                      <a:r>
                        <a:rPr lang="zh-CN" altLang="en-US" sz="900" b="1" i="0" u="none" strike="noStrike" dirty="0">
                          <a:solidFill>
                            <a:schemeClr val="tx1"/>
                          </a:solidFill>
                          <a:effectLst/>
                          <a:latin typeface="微软雅黑" panose="020B0503020204020204" pitchFamily="34" charset="-122"/>
                          <a:ea typeface="微软雅黑" panose="020B0503020204020204" pitchFamily="34" charset="-122"/>
                        </a:rPr>
                        <a:t>费用</a:t>
                      </a:r>
                      <a:endParaRPr lang="en-US" sz="900" b="1" i="0" u="none" strike="noStrike" dirty="0">
                        <a:solidFill>
                          <a:schemeClr val="tx1"/>
                        </a:solidFill>
                        <a:effectLst/>
                        <a:latin typeface="微软雅黑" panose="020B0503020204020204" pitchFamily="34" charset="-122"/>
                        <a:ea typeface="微软雅黑" panose="020B0503020204020204" pitchFamily="34" charset="-122"/>
                      </a:endParaRP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微软雅黑" panose="020B0503020204020204" pitchFamily="34" charset="-122"/>
                        </a:rPr>
                        <a:t>媒体费用</a:t>
                      </a:r>
                      <a:endParaRPr lang="zh-CN" altLang="en-US" sz="9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微软雅黑" panose="020B0503020204020204" pitchFamily="34" charset="-122"/>
                        </a:rPr>
                        <a:t>公关</a:t>
                      </a:r>
                      <a:r>
                        <a:rPr lang="zh-CN" altLang="en-US" sz="900" b="0" i="0" u="none" strike="noStrike" dirty="0">
                          <a:solidFill>
                            <a:schemeClr val="tx1"/>
                          </a:solidFill>
                          <a:effectLst/>
                          <a:latin typeface="微软雅黑" panose="020B0503020204020204" pitchFamily="34" charset="-122"/>
                          <a:ea typeface="微软雅黑" panose="020B0503020204020204" pitchFamily="34" charset="-122"/>
                        </a:rPr>
                        <a:t>公司费用</a:t>
                      </a:r>
                      <a:endParaRPr lang="zh-CN" altLang="en-US" sz="9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微软雅黑" panose="020B0503020204020204" pitchFamily="34" charset="-122"/>
                        </a:rPr>
                        <a:t>税费</a:t>
                      </a:r>
                      <a:endParaRPr lang="zh-CN" altLang="en-US" sz="9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fontAlgn="ctr">
                        <a:buNone/>
                      </a:pPr>
                      <a:r>
                        <a:rPr lang="zh-CN" altLang="en-US" sz="900" b="0" i="0" u="none" strike="noStrike" dirty="0">
                          <a:solidFill>
                            <a:schemeClr val="tx1"/>
                          </a:solidFill>
                          <a:effectLst/>
                          <a:latin typeface="微软雅黑" panose="020B0503020204020204" pitchFamily="34" charset="-122"/>
                          <a:ea typeface="微软雅黑" panose="020B0503020204020204" pitchFamily="34" charset="-122"/>
                        </a:rPr>
                        <a:t>合</a:t>
                      </a:r>
                      <a:r>
                        <a:rPr lang="zh-CN" altLang="en-US" sz="900" b="0" i="0" u="none" strike="noStrike" dirty="0">
                          <a:solidFill>
                            <a:schemeClr val="tx1"/>
                          </a:solidFill>
                          <a:effectLst/>
                          <a:latin typeface="微软雅黑" panose="020B0503020204020204" pitchFamily="34" charset="-122"/>
                          <a:ea typeface="微软雅黑" panose="020B0503020204020204" pitchFamily="34" charset="-122"/>
                        </a:rPr>
                        <a:t>计</a:t>
                      </a:r>
                      <a:endParaRPr lang="zh-CN" altLang="en-US" sz="9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150">
                <a:tc vMerge="1">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微软雅黑" panose="020B0503020204020204" pitchFamily="34" charset="-122"/>
                        </a:rPr>
                        <a:t>75w</a:t>
                      </a:r>
                      <a:endParaRPr lang="en-US" altLang="zh-CN" sz="9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微软雅黑" panose="020B0503020204020204" pitchFamily="34" charset="-122"/>
                        </a:rPr>
                        <a:t>5w</a:t>
                      </a:r>
                      <a:endParaRPr lang="en-US" altLang="zh-CN" sz="9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9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4.8w</a:t>
                      </a:r>
                      <a:endParaRPr kumimoji="0" lang="en-US" altLang="zh-CN" sz="9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indent="0" algn="ctr">
                        <a:buNone/>
                      </a:pPr>
                      <a:r>
                        <a:rPr lang="en-US" altLang="en-US" sz="900" b="0">
                          <a:solidFill>
                            <a:srgbClr val="000000"/>
                          </a:solidFill>
                          <a:latin typeface="微软雅黑" panose="020B0503020204020204" pitchFamily="34" charset="-122"/>
                        </a:rPr>
                        <a:t>84.8w</a:t>
                      </a:r>
                      <a:endParaRPr lang="en-US" altLang="en-US" sz="900" b="0">
                        <a:solidFill>
                          <a:srgbClr val="000000"/>
                        </a:solidFill>
                        <a:latin typeface="微软雅黑" panose="020B0503020204020204" pitchFamily="34" charset="-122"/>
                      </a:endParaRPr>
                    </a:p>
                  </a:txBody>
                  <a:tcPr marL="12700" marR="12700" marT="12700" vert="horz"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2" name="矩形 21"/>
          <p:cNvSpPr/>
          <p:nvPr/>
        </p:nvSpPr>
        <p:spPr>
          <a:xfrm>
            <a:off x="-1" y="9087549"/>
            <a:ext cx="6858000" cy="20827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zh-CN" altLang="en-US" sz="1100" b="1" dirty="0">
                <a:latin typeface="微软雅黑" panose="020B0503020204020204" pitchFamily="34" charset="-122"/>
                <a:ea typeface="微软雅黑" panose="020B0503020204020204" pitchFamily="34" charset="-122"/>
              </a:rPr>
              <a:t>六 、费用</a:t>
            </a:r>
            <a:endParaRPr lang="zh-CN" altLang="en-US" sz="1100" b="1" dirty="0">
              <a:latin typeface="微软雅黑" panose="020B0503020204020204" pitchFamily="34" charset="-122"/>
              <a:ea typeface="微软雅黑" panose="020B0503020204020204" pitchFamily="34" charset="-122"/>
            </a:endParaRPr>
          </a:p>
        </p:txBody>
      </p:sp>
      <p:sp>
        <p:nvSpPr>
          <p:cNvPr id="14" name="矩形 13"/>
          <p:cNvSpPr/>
          <p:nvPr/>
        </p:nvSpPr>
        <p:spPr>
          <a:xfrm>
            <a:off x="0" y="5600640"/>
            <a:ext cx="6858000" cy="2474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100" b="1" dirty="0">
                <a:latin typeface="微软雅黑" panose="020B0503020204020204" pitchFamily="34" charset="-122"/>
                <a:ea typeface="微软雅黑" panose="020B0503020204020204" pitchFamily="34" charset="-122"/>
              </a:rPr>
              <a:t>四，传播规划</a:t>
            </a:r>
            <a:endParaRPr lang="zh-CN" altLang="en-US" sz="1100" b="1" dirty="0">
              <a:latin typeface="微软雅黑" panose="020B0503020204020204" pitchFamily="34" charset="-122"/>
              <a:ea typeface="微软雅黑" panose="020B0503020204020204" pitchFamily="34" charset="-122"/>
            </a:endParaRPr>
          </a:p>
        </p:txBody>
      </p:sp>
      <p:sp>
        <p:nvSpPr>
          <p:cNvPr id="15" name="矩形 14"/>
          <p:cNvSpPr/>
          <p:nvPr/>
        </p:nvSpPr>
        <p:spPr>
          <a:xfrm>
            <a:off x="2967" y="6561475"/>
            <a:ext cx="6858000" cy="19075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100" b="1" dirty="0">
                <a:latin typeface="微软雅黑" panose="020B0503020204020204" pitchFamily="34" charset="-122"/>
                <a:ea typeface="微软雅黑" panose="020B0503020204020204" pitchFamily="34" charset="-122"/>
              </a:rPr>
              <a:t>五，推进规划</a:t>
            </a:r>
            <a:endParaRPr lang="zh-CN" altLang="en-US" sz="1100" b="1" dirty="0">
              <a:latin typeface="微软雅黑" panose="020B0503020204020204" pitchFamily="34" charset="-122"/>
              <a:ea typeface="微软雅黑" panose="020B0503020204020204" pitchFamily="34" charset="-122"/>
            </a:endParaRPr>
          </a:p>
        </p:txBody>
      </p:sp>
      <p:sp>
        <p:nvSpPr>
          <p:cNvPr id="16" name="矩形 15"/>
          <p:cNvSpPr/>
          <p:nvPr/>
        </p:nvSpPr>
        <p:spPr>
          <a:xfrm>
            <a:off x="0" y="4727575"/>
            <a:ext cx="6858000" cy="812800"/>
          </a:xfrm>
          <a:prstGeom prst="rect">
            <a:avLst/>
          </a:prstGeom>
          <a:ln>
            <a:solidFill>
              <a:schemeClr val="tx1"/>
            </a:solidFill>
          </a:ln>
        </p:spPr>
        <p:txBody>
          <a:bodyPr wrap="square">
            <a:noAutofit/>
          </a:bodyPr>
          <a:lstStyle/>
          <a:p>
            <a:pPr indent="0" fontAlgn="auto">
              <a:lnSpc>
                <a:spcPts val="1400"/>
              </a:lnSpc>
            </a:pPr>
            <a:r>
              <a:rPr lang="en-US" altLang="zh-CN" sz="900" dirty="0">
                <a:latin typeface="微软雅黑" panose="020B0503020204020204" pitchFamily="34" charset="-122"/>
                <a:ea typeface="微软雅黑" panose="020B0503020204020204" pitchFamily="34" charset="-122"/>
              </a:rPr>
              <a:t>1.</a:t>
            </a:r>
            <a:r>
              <a:rPr lang="zh-CN" altLang="en-US" sz="900" dirty="0">
                <a:latin typeface="微软雅黑" panose="020B0503020204020204" pitchFamily="34" charset="-122"/>
                <a:ea typeface="微软雅黑" panose="020B0503020204020204" pitchFamily="34" charset="-122"/>
              </a:rPr>
              <a:t>本次广马参考最新媒体库、主动询问媒体、过往有邀请记录（广马、厦马），今年共有全</a:t>
            </a:r>
            <a:r>
              <a:rPr lang="zh-CN" altLang="en-US" sz="900" dirty="0">
                <a:latin typeface="微软雅黑" panose="020B0503020204020204" pitchFamily="34" charset="-122"/>
                <a:ea typeface="微软雅黑" panose="020B0503020204020204" pitchFamily="34" charset="-122"/>
              </a:rPr>
              <a:t>马名额</a:t>
            </a:r>
            <a:r>
              <a:rPr lang="en-US" altLang="zh-CN" sz="900" dirty="0">
                <a:latin typeface="微软雅黑" panose="020B0503020204020204" pitchFamily="34" charset="-122"/>
                <a:ea typeface="微软雅黑" panose="020B0503020204020204" pitchFamily="34" charset="-122"/>
              </a:rPr>
              <a:t>50</a:t>
            </a:r>
            <a:r>
              <a:rPr lang="zh-CN" altLang="en-US" sz="900" dirty="0">
                <a:latin typeface="微软雅黑" panose="020B0503020204020204" pitchFamily="34" charset="-122"/>
                <a:ea typeface="微软雅黑" panose="020B0503020204020204" pitchFamily="34" charset="-122"/>
              </a:rPr>
              <a:t>人；</a:t>
            </a:r>
            <a:endParaRPr lang="zh-CN" altLang="en-US" sz="900" dirty="0">
              <a:latin typeface="微软雅黑" panose="020B0503020204020204" pitchFamily="34" charset="-122"/>
              <a:ea typeface="微软雅黑" panose="020B0503020204020204" pitchFamily="34" charset="-122"/>
            </a:endParaRPr>
          </a:p>
          <a:p>
            <a:pPr indent="0" fontAlgn="auto">
              <a:lnSpc>
                <a:spcPts val="1400"/>
              </a:lnSpc>
            </a:pPr>
            <a:r>
              <a:rPr lang="en-US" altLang="zh-CN" sz="900" dirty="0">
                <a:latin typeface="微软雅黑" panose="020B0503020204020204" pitchFamily="34" charset="-122"/>
                <a:ea typeface="微软雅黑" panose="020B0503020204020204" pitchFamily="34" charset="-122"/>
              </a:rPr>
              <a:t>2.</a:t>
            </a:r>
            <a:r>
              <a:rPr lang="zh-CN" altLang="en-US" sz="900" dirty="0">
                <a:latin typeface="微软雅黑" panose="020B0503020204020204" pitchFamily="34" charset="-122"/>
                <a:ea typeface="微软雅黑" panose="020B0503020204020204" pitchFamily="34" charset="-122"/>
              </a:rPr>
              <a:t>筛选以往参与过马拉松以及体能较好的，与广汽丰田关系较好的库内媒体，以广州马拉松为契机，进行媒体关系维护，同时在过程中输出广汽丰田二十周年庆品牌形象传播以及进行新车上市认知度</a:t>
            </a:r>
            <a:r>
              <a:rPr lang="zh-CN" altLang="en-US" sz="900" dirty="0">
                <a:latin typeface="微软雅黑" panose="020B0503020204020204" pitchFamily="34" charset="-122"/>
                <a:ea typeface="微软雅黑" panose="020B0503020204020204" pitchFamily="34" charset="-122"/>
              </a:rPr>
              <a:t>提升；</a:t>
            </a:r>
            <a:endParaRPr lang="en-US" altLang="zh-CN" sz="900" dirty="0">
              <a:latin typeface="微软雅黑" panose="020B0503020204020204" pitchFamily="34" charset="-122"/>
              <a:ea typeface="微软雅黑" panose="020B0503020204020204" pitchFamily="34" charset="-122"/>
            </a:endParaRPr>
          </a:p>
          <a:p>
            <a:pPr indent="0" fontAlgn="auto">
              <a:lnSpc>
                <a:spcPts val="1400"/>
              </a:lnSpc>
            </a:pPr>
            <a:r>
              <a:rPr lang="en-US" altLang="zh-CN" sz="900" dirty="0">
                <a:latin typeface="微软雅黑" panose="020B0503020204020204" pitchFamily="34" charset="-122"/>
                <a:ea typeface="微软雅黑" panose="020B0503020204020204" pitchFamily="34" charset="-122"/>
              </a:rPr>
              <a:t>3.</a:t>
            </a:r>
            <a:r>
              <a:rPr lang="zh-CN" altLang="en-US" sz="900" dirty="0">
                <a:latin typeface="微软雅黑" panose="020B0503020204020204" pitchFamily="34" charset="-122"/>
                <a:ea typeface="微软雅黑" panose="020B0503020204020204" pitchFamily="34" charset="-122"/>
              </a:rPr>
              <a:t>目前主动咨询媒体</a:t>
            </a:r>
            <a:r>
              <a:rPr lang="en-US" altLang="zh-CN" sz="900" dirty="0">
                <a:latin typeface="微软雅黑" panose="020B0503020204020204" pitchFamily="34" charset="-122"/>
                <a:ea typeface="微软雅黑" panose="020B0503020204020204" pitchFamily="34" charset="-122"/>
              </a:rPr>
              <a:t>31</a:t>
            </a:r>
            <a:r>
              <a:rPr lang="zh-CN" altLang="en-US" sz="900" dirty="0">
                <a:latin typeface="微软雅黑" panose="020B0503020204020204" pitchFamily="34" charset="-122"/>
                <a:ea typeface="微软雅黑" panose="020B0503020204020204" pitchFamily="34" charset="-122"/>
              </a:rPr>
              <a:t>家</a:t>
            </a:r>
            <a:r>
              <a:rPr lang="en-US" altLang="zh-CN" sz="900" dirty="0">
                <a:latin typeface="微软雅黑" panose="020B0503020204020204" pitchFamily="34" charset="-122"/>
                <a:ea typeface="微软雅黑" panose="020B0503020204020204" pitchFamily="34" charset="-122"/>
              </a:rPr>
              <a:t>33</a:t>
            </a:r>
            <a:r>
              <a:rPr lang="zh-CN" altLang="en-US" sz="900" dirty="0">
                <a:latin typeface="微软雅黑" panose="020B0503020204020204" pitchFamily="34" charset="-122"/>
                <a:ea typeface="微软雅黑" panose="020B0503020204020204" pitchFamily="34" charset="-122"/>
              </a:rPr>
              <a:t>人，</a:t>
            </a:r>
            <a:r>
              <a:rPr lang="zh-CN" altLang="en-US" sz="900" dirty="0">
                <a:latin typeface="微软雅黑" panose="020B0503020204020204" pitchFamily="34" charset="-122"/>
                <a:ea typeface="微软雅黑" panose="020B0503020204020204" pitchFamily="34" charset="-122"/>
              </a:rPr>
              <a:t>同时增加的比较有影响力的媒体，后续将持续筛选合适的媒体。</a:t>
            </a:r>
            <a:endParaRPr lang="zh-CN" altLang="en-US" sz="900" dirty="0">
              <a:latin typeface="微软雅黑" panose="020B0503020204020204" pitchFamily="34" charset="-122"/>
              <a:ea typeface="微软雅黑" panose="020B0503020204020204" pitchFamily="34" charset="-122"/>
            </a:endParaRPr>
          </a:p>
          <a:p>
            <a:pPr indent="0" fontAlgn="auto">
              <a:lnSpc>
                <a:spcPct val="100000"/>
              </a:lnSpc>
            </a:pPr>
            <a:endParaRPr lang="zh-CN" altLang="en-US" sz="900" dirty="0">
              <a:latin typeface="微软雅黑" panose="020B0503020204020204" pitchFamily="34" charset="-122"/>
              <a:ea typeface="微软雅黑" panose="020B0503020204020204" pitchFamily="34" charset="-122"/>
            </a:endParaRPr>
          </a:p>
        </p:txBody>
      </p:sp>
      <p:sp>
        <p:nvSpPr>
          <p:cNvPr id="20" name="矩形 19"/>
          <p:cNvSpPr/>
          <p:nvPr/>
        </p:nvSpPr>
        <p:spPr>
          <a:xfrm>
            <a:off x="8983" y="1979225"/>
            <a:ext cx="6858000" cy="2474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100" b="1" dirty="0">
                <a:latin typeface="微软雅黑" panose="020B0503020204020204" pitchFamily="34" charset="-122"/>
                <a:ea typeface="微软雅黑" panose="020B0503020204020204" pitchFamily="34" charset="-122"/>
              </a:rPr>
              <a:t>二，执行规划</a:t>
            </a:r>
            <a:endParaRPr lang="zh-CN" altLang="en-US" sz="1100" b="1" dirty="0">
              <a:latin typeface="微软雅黑" panose="020B0503020204020204" pitchFamily="34" charset="-122"/>
              <a:ea typeface="微软雅黑" panose="020B0503020204020204" pitchFamily="34" charset="-122"/>
            </a:endParaRPr>
          </a:p>
        </p:txBody>
      </p:sp>
      <p:sp>
        <p:nvSpPr>
          <p:cNvPr id="17" name="矩形 16"/>
          <p:cNvSpPr/>
          <p:nvPr/>
        </p:nvSpPr>
        <p:spPr>
          <a:xfrm>
            <a:off x="6197069" y="47657"/>
            <a:ext cx="612000" cy="234052"/>
          </a:xfrm>
          <a:prstGeom prst="rect">
            <a:avLst/>
          </a:prstGeom>
          <a:ln w="19050">
            <a:solidFill>
              <a:srgbClr val="C00000"/>
            </a:solidFill>
          </a:ln>
        </p:spPr>
        <p:style>
          <a:lnRef idx="2">
            <a:schemeClr val="accent6"/>
          </a:lnRef>
          <a:fillRef idx="1">
            <a:schemeClr val="lt1"/>
          </a:fillRef>
          <a:effectRef idx="0">
            <a:schemeClr val="accent6"/>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zh-CN" altLang="en-US" sz="800" b="1">
                <a:solidFill>
                  <a:srgbClr val="C00000"/>
                </a:solidFill>
                <a:latin typeface="微软雅黑" panose="020B0503020204020204" pitchFamily="34" charset="-122"/>
                <a:ea typeface="微软雅黑" panose="020B0503020204020204" pitchFamily="34" charset="-122"/>
              </a:rPr>
              <a:t>内部资料</a:t>
            </a:r>
            <a:endParaRPr lang="zh-CN" altLang="en-US" sz="800" b="1">
              <a:solidFill>
                <a:srgbClr val="C00000"/>
              </a:solidFill>
              <a:latin typeface="微软雅黑" panose="020B0503020204020204" pitchFamily="34" charset="-122"/>
              <a:ea typeface="微软雅黑" panose="020B0503020204020204" pitchFamily="34" charset="-122"/>
            </a:endParaRPr>
          </a:p>
        </p:txBody>
      </p:sp>
      <p:sp>
        <p:nvSpPr>
          <p:cNvPr id="2" name="矩形 1"/>
          <p:cNvSpPr/>
          <p:nvPr/>
        </p:nvSpPr>
        <p:spPr>
          <a:xfrm>
            <a:off x="888365" y="2280920"/>
            <a:ext cx="5447665" cy="422275"/>
          </a:xfrm>
          <a:prstGeom prst="rect">
            <a:avLst/>
          </a:prstGeom>
          <a:solidFill>
            <a:srgbClr val="C00000"/>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solidFill>
                  <a:schemeClr val="bg1"/>
                </a:solidFill>
                <a:latin typeface="微软雅黑" charset="0"/>
                <a:ea typeface="微软雅黑" charset="0"/>
              </a:rPr>
              <a:t>持续运营广汽丰田【丰跑团】，借助线下活动反哺线上传播，提升广汽丰田品牌传播声量</a:t>
            </a:r>
            <a:endParaRPr lang="zh-CN" altLang="en-US" sz="1000" b="1">
              <a:solidFill>
                <a:schemeClr val="bg1"/>
              </a:solidFill>
              <a:latin typeface="微软雅黑" charset="0"/>
              <a:ea typeface="微软雅黑" charset="0"/>
            </a:endParaRPr>
          </a:p>
        </p:txBody>
      </p:sp>
      <p:grpSp>
        <p:nvGrpSpPr>
          <p:cNvPr id="8" name="组合 7"/>
          <p:cNvGrpSpPr/>
          <p:nvPr/>
        </p:nvGrpSpPr>
        <p:grpSpPr>
          <a:xfrm>
            <a:off x="322580" y="2768776"/>
            <a:ext cx="3107055" cy="1653498"/>
            <a:chOff x="508" y="4232"/>
            <a:chExt cx="3760" cy="2769"/>
          </a:xfrm>
        </p:grpSpPr>
        <p:sp>
          <p:nvSpPr>
            <p:cNvPr id="9" name="矩形 8"/>
            <p:cNvSpPr/>
            <p:nvPr/>
          </p:nvSpPr>
          <p:spPr>
            <a:xfrm>
              <a:off x="740" y="4628"/>
              <a:ext cx="3242" cy="2373"/>
            </a:xfrm>
            <a:prstGeom prst="rect">
              <a:avLst/>
            </a:prstGeom>
            <a:noFill/>
            <a:ln w="9525">
              <a:solidFill>
                <a:srgbClr val="C00000"/>
              </a:solidFill>
            </a:ln>
            <a:extLst>
              <a:ext uri="{909E8E84-426E-40DD-AFC4-6F175D3DCCD1}">
                <a14:hiddenFill xmlns:a14="http://schemas.microsoft.com/office/drawing/2010/main">
                  <a:solidFill>
                    <a:srgbClr val="C0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508" y="4232"/>
              <a:ext cx="3760" cy="737"/>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charset="0"/>
                  <a:ea typeface="微软雅黑" charset="0"/>
                </a:rPr>
                <a:t>借线下深度链接媒体，巩固品牌口碑护城河</a:t>
              </a:r>
              <a:endParaRPr lang="zh-CN" altLang="en-US" sz="1200">
                <a:latin typeface="微软雅黑" charset="0"/>
                <a:ea typeface="微软雅黑" charset="0"/>
              </a:endParaRPr>
            </a:p>
          </p:txBody>
        </p:sp>
        <p:sp>
          <p:nvSpPr>
            <p:cNvPr id="12" name="文本框 11"/>
            <p:cNvSpPr txBox="1"/>
            <p:nvPr/>
          </p:nvSpPr>
          <p:spPr>
            <a:xfrm>
              <a:off x="757" y="4897"/>
              <a:ext cx="3225" cy="2057"/>
            </a:xfrm>
            <a:prstGeom prst="rect">
              <a:avLst/>
            </a:prstGeom>
            <a:noFill/>
          </p:spPr>
          <p:txBody>
            <a:bodyPr wrap="square" rtlCol="0">
              <a:noAutofit/>
            </a:bodyPr>
            <a:p>
              <a:pPr indent="0" fontAlgn="auto">
                <a:lnSpc>
                  <a:spcPct val="150000"/>
                </a:lnSpc>
              </a:pPr>
              <a:r>
                <a:rPr sz="1000">
                  <a:latin typeface="微软雅黑" charset="0"/>
                  <a:ea typeface="微软雅黑" charset="0"/>
                  <a:cs typeface="微软雅黑" charset="0"/>
                </a:rPr>
                <a:t>邀请媒体参加广州马拉松，让跑团媒体感受广汽丰田现场的智能化规划及广州车展要素内容，借线下活动深度链接媒体，并通过带逛博览会和纪念品打卡最大化提升媒体参与感，维持长期友好关系。</a:t>
              </a:r>
              <a:endParaRPr sz="1000">
                <a:latin typeface="微软雅黑" charset="0"/>
                <a:ea typeface="微软雅黑" charset="0"/>
                <a:cs typeface="微软雅黑" charset="0"/>
              </a:endParaRPr>
            </a:p>
          </p:txBody>
        </p:sp>
      </p:grpSp>
      <p:grpSp>
        <p:nvGrpSpPr>
          <p:cNvPr id="18" name="组合 17"/>
          <p:cNvGrpSpPr/>
          <p:nvPr/>
        </p:nvGrpSpPr>
        <p:grpSpPr>
          <a:xfrm>
            <a:off x="3669665" y="2767602"/>
            <a:ext cx="3017520" cy="1652985"/>
            <a:chOff x="6075" y="4178"/>
            <a:chExt cx="3760" cy="2773"/>
          </a:xfrm>
        </p:grpSpPr>
        <p:sp>
          <p:nvSpPr>
            <p:cNvPr id="11" name="矩形 10"/>
            <p:cNvSpPr/>
            <p:nvPr/>
          </p:nvSpPr>
          <p:spPr>
            <a:xfrm>
              <a:off x="6296" y="4628"/>
              <a:ext cx="3382" cy="2323"/>
            </a:xfrm>
            <a:prstGeom prst="rect">
              <a:avLst/>
            </a:prstGeom>
            <a:noFill/>
            <a:ln w="9525">
              <a:solidFill>
                <a:srgbClr val="C00000"/>
              </a:solidFill>
            </a:ln>
            <a:extLst>
              <a:ext uri="{909E8E84-426E-40DD-AFC4-6F175D3DCCD1}">
                <a14:hiddenFill xmlns:a14="http://schemas.microsoft.com/office/drawing/2010/main">
                  <a:solidFill>
                    <a:srgbClr val="C0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6075" y="4178"/>
              <a:ext cx="3760" cy="755"/>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sz="1200">
                  <a:latin typeface="微软雅黑" charset="0"/>
                  <a:ea typeface="微软雅黑" charset="0"/>
                </a:rPr>
                <a:t>强化重点车型传播声量，助力销售转化</a:t>
              </a:r>
              <a:endParaRPr sz="1200">
                <a:latin typeface="微软雅黑" charset="0"/>
                <a:ea typeface="微软雅黑" charset="0"/>
              </a:endParaRPr>
            </a:p>
          </p:txBody>
        </p:sp>
        <p:sp>
          <p:nvSpPr>
            <p:cNvPr id="24" name="文本框 23"/>
            <p:cNvSpPr txBox="1"/>
            <p:nvPr/>
          </p:nvSpPr>
          <p:spPr>
            <a:xfrm>
              <a:off x="6313" y="4852"/>
              <a:ext cx="3344" cy="2089"/>
            </a:xfrm>
            <a:prstGeom prst="rect">
              <a:avLst/>
            </a:prstGeom>
            <a:noFill/>
          </p:spPr>
          <p:txBody>
            <a:bodyPr wrap="square" rtlCol="0">
              <a:spAutoFit/>
            </a:bodyPr>
            <a:p>
              <a:pPr indent="0" fontAlgn="auto">
                <a:lnSpc>
                  <a:spcPct val="150000"/>
                </a:lnSpc>
              </a:pPr>
              <a:r>
                <a:rPr lang="zh-CN" altLang="en-US" sz="1000">
                  <a:latin typeface="微软雅黑" charset="0"/>
                  <a:ea typeface="微软雅黑" charset="0"/>
                  <a:cs typeface="微软雅黑" charset="0"/>
                </a:rPr>
                <a:t>通过跑团媒体的传播渠道，传递现场活动的氛围感和展示的重点车型信息，同时吸引用户打卡关注广马赛事和广汽丰田新车资讯，在提升品牌声量的同时，助力新车的认知度提升。</a:t>
              </a:r>
              <a:endParaRPr lang="zh-CN" altLang="en-US" sz="1000">
                <a:latin typeface="微软雅黑" charset="0"/>
                <a:ea typeface="微软雅黑" charset="0"/>
                <a:cs typeface="微软雅黑" charset="0"/>
              </a:endParaRPr>
            </a:p>
          </p:txBody>
        </p:sp>
      </p:grpSp>
      <p:sp>
        <p:nvSpPr>
          <p:cNvPr id="19" name="矩形 18"/>
          <p:cNvSpPr/>
          <p:nvPr/>
        </p:nvSpPr>
        <p:spPr>
          <a:xfrm>
            <a:off x="-9432" y="4444295"/>
            <a:ext cx="6858000" cy="2474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r>
              <a:rPr lang="zh-CN" altLang="en-US" sz="1100" b="1" dirty="0">
                <a:latin typeface="微软雅黑" panose="020B0503020204020204" pitchFamily="34" charset="-122"/>
                <a:ea typeface="微软雅黑" panose="020B0503020204020204" pitchFamily="34" charset="-122"/>
              </a:rPr>
              <a:t>三，媒体选择</a:t>
            </a:r>
            <a:r>
              <a:rPr lang="zh-CN" altLang="en-US" sz="1100" b="1" dirty="0">
                <a:latin typeface="微软雅黑" panose="020B0503020204020204" pitchFamily="34" charset="-122"/>
                <a:ea typeface="微软雅黑" panose="020B0503020204020204" pitchFamily="34" charset="-122"/>
              </a:rPr>
              <a:t>策略</a:t>
            </a:r>
            <a:endParaRPr lang="zh-CN" altLang="en-US" sz="1100" b="1" dirty="0">
              <a:latin typeface="微软雅黑" panose="020B0503020204020204" pitchFamily="34" charset="-122"/>
              <a:ea typeface="微软雅黑" panose="020B0503020204020204" pitchFamily="34" charset="-122"/>
            </a:endParaRPr>
          </a:p>
        </p:txBody>
      </p:sp>
      <p:graphicFrame>
        <p:nvGraphicFramePr>
          <p:cNvPr id="23" name="表格 22"/>
          <p:cNvGraphicFramePr/>
          <p:nvPr/>
        </p:nvGraphicFramePr>
        <p:xfrm>
          <a:off x="88900" y="6790055"/>
          <a:ext cx="6719570" cy="2262505"/>
        </p:xfrm>
        <a:graphic>
          <a:graphicData uri="http://schemas.openxmlformats.org/drawingml/2006/table">
            <a:tbl>
              <a:tblPr/>
              <a:tblGrid>
                <a:gridCol w="637540"/>
                <a:gridCol w="1283970"/>
                <a:gridCol w="620395"/>
                <a:gridCol w="784860"/>
                <a:gridCol w="536575"/>
                <a:gridCol w="869315"/>
                <a:gridCol w="653415"/>
                <a:gridCol w="430530"/>
                <a:gridCol w="462280"/>
                <a:gridCol w="440690"/>
              </a:tblGrid>
              <a:tr h="165100">
                <a:tc rowSpan="2">
                  <a:txBody>
                    <a:bodyPr/>
                    <a:p>
                      <a:pPr algn="ctr" fontAlgn="ctr"/>
                      <a:r>
                        <a:rPr lang="zh-CN" altLang="en-US" sz="700" b="0" i="0">
                          <a:solidFill>
                            <a:srgbClr val="000000"/>
                          </a:solidFill>
                          <a:latin typeface="微软雅黑"/>
                          <a:ea typeface="微软雅黑"/>
                        </a:rPr>
                        <a:t>项目</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2">
                  <a:txBody>
                    <a:bodyPr/>
                    <a:p>
                      <a:pPr algn="ctr" fontAlgn="ctr"/>
                      <a:r>
                        <a:rPr lang="zh-CN" altLang="en-US" sz="700" b="0" i="0">
                          <a:solidFill>
                            <a:srgbClr val="000000"/>
                          </a:solidFill>
                          <a:latin typeface="微软雅黑"/>
                          <a:ea typeface="微软雅黑"/>
                        </a:rPr>
                        <a:t>内容</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4">
                  <a:txBody>
                    <a:bodyPr/>
                    <a:p>
                      <a:pPr algn="ctr" fontAlgn="ctr"/>
                      <a:r>
                        <a:rPr lang="en-US" altLang="zh-CN" sz="700" b="0" i="0">
                          <a:solidFill>
                            <a:srgbClr val="000000"/>
                          </a:solidFill>
                          <a:latin typeface="微软雅黑"/>
                          <a:ea typeface="微软雅黑"/>
                        </a:rPr>
                        <a:t>11</a:t>
                      </a:r>
                      <a:r>
                        <a:rPr lang="zh-CN" altLang="en-US" sz="700" b="0" i="0">
                          <a:solidFill>
                            <a:srgbClr val="000000"/>
                          </a:solidFill>
                          <a:latin typeface="微软雅黑"/>
                          <a:ea typeface="微软雅黑"/>
                        </a:rPr>
                        <a:t>月</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4">
                  <a:txBody>
                    <a:bodyPr/>
                    <a:p>
                      <a:pPr algn="ctr" fontAlgn="ctr"/>
                      <a:r>
                        <a:rPr lang="en-US" altLang="zh-CN" sz="700" b="0" i="0">
                          <a:solidFill>
                            <a:srgbClr val="000000"/>
                          </a:solidFill>
                          <a:latin typeface="微软雅黑"/>
                          <a:ea typeface="微软雅黑"/>
                        </a:rPr>
                        <a:t>12</a:t>
                      </a:r>
                      <a:r>
                        <a:rPr lang="zh-CN" altLang="en-US" sz="700" b="0" i="0">
                          <a:solidFill>
                            <a:srgbClr val="000000"/>
                          </a:solidFill>
                          <a:latin typeface="微软雅黑"/>
                          <a:ea typeface="微软雅黑"/>
                        </a:rPr>
                        <a:t>月</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651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r>
                        <a:rPr lang="en-US" altLang="zh-CN" sz="700" b="0" i="0">
                          <a:solidFill>
                            <a:srgbClr val="000000"/>
                          </a:solidFill>
                          <a:latin typeface="微软雅黑"/>
                          <a:ea typeface="微软雅黑"/>
                        </a:rPr>
                        <a:t>W1</a:t>
                      </a:r>
                      <a:endParaRPr lang="en-US" altLang="zh-CN"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700" b="0" i="0">
                          <a:solidFill>
                            <a:srgbClr val="000000"/>
                          </a:solidFill>
                          <a:latin typeface="微软雅黑"/>
                          <a:ea typeface="微软雅黑"/>
                        </a:rPr>
                        <a:t>W2</a:t>
                      </a:r>
                      <a:endParaRPr lang="en-US" altLang="zh-CN"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700" b="0" i="0">
                          <a:solidFill>
                            <a:srgbClr val="000000"/>
                          </a:solidFill>
                          <a:latin typeface="微软雅黑"/>
                          <a:ea typeface="微软雅黑"/>
                        </a:rPr>
                        <a:t>W3</a:t>
                      </a:r>
                      <a:endParaRPr lang="en-US" altLang="zh-CN"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700" b="0" i="0">
                          <a:solidFill>
                            <a:srgbClr val="000000"/>
                          </a:solidFill>
                          <a:latin typeface="微软雅黑"/>
                          <a:ea typeface="微软雅黑"/>
                        </a:rPr>
                        <a:t>W4</a:t>
                      </a:r>
                      <a:endParaRPr lang="en-US" altLang="zh-CN"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700" b="0" i="0">
                          <a:solidFill>
                            <a:srgbClr val="000000"/>
                          </a:solidFill>
                          <a:latin typeface="微软雅黑"/>
                          <a:ea typeface="微软雅黑"/>
                        </a:rPr>
                        <a:t>W1</a:t>
                      </a:r>
                      <a:endParaRPr lang="en-US" altLang="zh-CN"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700" b="0" i="0">
                          <a:solidFill>
                            <a:srgbClr val="000000"/>
                          </a:solidFill>
                          <a:latin typeface="微软雅黑"/>
                          <a:ea typeface="微软雅黑"/>
                        </a:rPr>
                        <a:t>W2</a:t>
                      </a:r>
                      <a:endParaRPr lang="en-US" altLang="zh-CN"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700" b="0" i="0">
                          <a:solidFill>
                            <a:srgbClr val="000000"/>
                          </a:solidFill>
                          <a:latin typeface="微软雅黑"/>
                          <a:ea typeface="微软雅黑"/>
                        </a:rPr>
                        <a:t>W3</a:t>
                      </a:r>
                      <a:endParaRPr lang="en-US" altLang="zh-CN"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700" b="0" i="0">
                          <a:solidFill>
                            <a:srgbClr val="000000"/>
                          </a:solidFill>
                          <a:latin typeface="微软雅黑"/>
                          <a:ea typeface="微软雅黑"/>
                        </a:rPr>
                        <a:t>W4</a:t>
                      </a:r>
                      <a:endParaRPr lang="en-US" altLang="zh-CN"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86690">
                <a:tc>
                  <a:txBody>
                    <a:bodyPr/>
                    <a:p>
                      <a:pPr algn="ctr" fontAlgn="ctr"/>
                      <a:r>
                        <a:rPr lang="zh-CN" altLang="en-US" sz="700" b="0" i="0">
                          <a:solidFill>
                            <a:srgbClr val="000000"/>
                          </a:solidFill>
                          <a:latin typeface="微软雅黑"/>
                          <a:ea typeface="微软雅黑"/>
                        </a:rPr>
                        <a:t>媒体名单</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媒体名单</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fontAlgn="ctr"/>
                      <a:r>
                        <a:rPr lang="zh-CN" sz="700" b="0" i="0">
                          <a:solidFill>
                            <a:srgbClr val="000000"/>
                          </a:solidFill>
                          <a:latin typeface="微软雅黑"/>
                          <a:ea typeface="微软雅黑"/>
                        </a:rPr>
                        <a:t>汇报</a:t>
                      </a:r>
                      <a:r>
                        <a:rPr lang="en-US" altLang="zh-CN" sz="700" b="0" i="0">
                          <a:solidFill>
                            <a:srgbClr val="000000"/>
                          </a:solidFill>
                          <a:latin typeface="微软雅黑"/>
                          <a:ea typeface="微软雅黑"/>
                        </a:rPr>
                        <a:t>、</a:t>
                      </a:r>
                      <a:r>
                        <a:rPr lang="zh-CN" altLang="en-US" sz="700" b="0" i="0">
                          <a:solidFill>
                            <a:srgbClr val="000000"/>
                          </a:solidFill>
                          <a:latin typeface="微软雅黑"/>
                          <a:ea typeface="微软雅黑"/>
                        </a:rPr>
                        <a:t>修改</a:t>
                      </a:r>
                      <a:r>
                        <a:rPr lang="en-US" altLang="zh-CN" sz="700" b="0" i="0">
                          <a:solidFill>
                            <a:srgbClr val="000000"/>
                          </a:solidFill>
                          <a:latin typeface="微软雅黑"/>
                          <a:ea typeface="微软雅黑"/>
                        </a:rPr>
                        <a:t>、</a:t>
                      </a:r>
                      <a:r>
                        <a:rPr lang="zh-CN" sz="700" b="0" i="0">
                          <a:solidFill>
                            <a:srgbClr val="000000"/>
                          </a:solidFill>
                          <a:latin typeface="微软雅黑"/>
                          <a:ea typeface="微软雅黑"/>
                        </a:rPr>
                        <a:t>最终</a:t>
                      </a:r>
                      <a:r>
                        <a:rPr lang="zh-CN" sz="700" b="0" i="0">
                          <a:solidFill>
                            <a:srgbClr val="000000"/>
                          </a:solidFill>
                          <a:latin typeface="微软雅黑"/>
                          <a:ea typeface="微软雅黑"/>
                        </a:rPr>
                        <a:t>确认</a:t>
                      </a:r>
                      <a:endParaRPr lang="zh-CN"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32410">
                <a:tc>
                  <a:txBody>
                    <a:bodyPr/>
                    <a:p>
                      <a:pPr algn="ctr" fontAlgn="ctr"/>
                      <a:r>
                        <a:rPr lang="zh-CN" altLang="en-US" sz="700" b="0" i="0">
                          <a:solidFill>
                            <a:srgbClr val="000000"/>
                          </a:solidFill>
                          <a:latin typeface="微软雅黑"/>
                          <a:ea typeface="微软雅黑"/>
                        </a:rPr>
                        <a:t>方案</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执行内容、预算等</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fontAlgn="ctr"/>
                      <a:r>
                        <a:rPr lang="zh-CN" altLang="en-US" sz="700">
                          <a:solidFill>
                            <a:srgbClr val="000000"/>
                          </a:solidFill>
                          <a:latin typeface="微软雅黑"/>
                          <a:ea typeface="微软雅黑"/>
                        </a:rPr>
                        <a:t>　汇报</a:t>
                      </a:r>
                      <a:r>
                        <a:rPr lang="en-US" altLang="zh-CN" sz="700">
                          <a:solidFill>
                            <a:srgbClr val="000000"/>
                          </a:solidFill>
                          <a:latin typeface="微软雅黑"/>
                          <a:ea typeface="微软雅黑"/>
                        </a:rPr>
                        <a:t>、</a:t>
                      </a:r>
                      <a:r>
                        <a:rPr lang="zh-CN" altLang="en-US" sz="700">
                          <a:solidFill>
                            <a:srgbClr val="000000"/>
                          </a:solidFill>
                          <a:latin typeface="微软雅黑"/>
                          <a:ea typeface="微软雅黑"/>
                        </a:rPr>
                        <a:t>修改</a:t>
                      </a:r>
                      <a:endParaRPr lang="zh-CN" altLang="en-US" sz="70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6">
                  <a:txBody>
                    <a:bodyPr/>
                    <a:p>
                      <a:pPr algn="ctr" fontAlgn="ctr"/>
                      <a:r>
                        <a:rPr lang="zh-CN" altLang="en-US" sz="700" b="0" i="0">
                          <a:solidFill>
                            <a:srgbClr val="000000"/>
                          </a:solidFill>
                          <a:latin typeface="微软雅黑"/>
                          <a:ea typeface="微软雅黑"/>
                        </a:rPr>
                        <a:t>广马比赛日</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0515">
                <a:tc>
                  <a:txBody>
                    <a:bodyPr/>
                    <a:p>
                      <a:pPr algn="ctr" fontAlgn="ctr"/>
                      <a:r>
                        <a:rPr lang="zh-CN" altLang="en-US" sz="700" b="0" i="0">
                          <a:solidFill>
                            <a:srgbClr val="000000"/>
                          </a:solidFill>
                          <a:latin typeface="微软雅黑"/>
                          <a:ea typeface="微软雅黑"/>
                        </a:rPr>
                        <a:t>媒体沟通</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参赛与否、日程、装备尺码确认</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fontAlgn="ctr"/>
                      <a:r>
                        <a:rPr lang="zh-CN" altLang="en-US" sz="700" b="0" i="0">
                          <a:solidFill>
                            <a:srgbClr val="000000"/>
                          </a:solidFill>
                          <a:latin typeface="微软雅黑"/>
                          <a:ea typeface="微软雅黑"/>
                        </a:rPr>
                        <a:t>媒体沟通</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09245">
                <a:tc>
                  <a:txBody>
                    <a:bodyPr/>
                    <a:p>
                      <a:pPr algn="ctr" fontAlgn="ctr"/>
                      <a:r>
                        <a:rPr lang="zh-CN" altLang="en-US" sz="700" b="0" i="0">
                          <a:solidFill>
                            <a:srgbClr val="000000"/>
                          </a:solidFill>
                          <a:latin typeface="微软雅黑"/>
                          <a:ea typeface="微软雅黑"/>
                        </a:rPr>
                        <a:t>装备</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确认、购买、印制</a:t>
                      </a:r>
                      <a:r>
                        <a:rPr lang="en-US" altLang="zh-CN" sz="700" b="0" i="0">
                          <a:solidFill>
                            <a:srgbClr val="000000"/>
                          </a:solidFill>
                          <a:latin typeface="微软雅黑"/>
                          <a:ea typeface="微软雅黑"/>
                        </a:rPr>
                        <a:t>logo</a:t>
                      </a:r>
                      <a:r>
                        <a:rPr lang="zh-CN" altLang="en-US" sz="700" b="0" i="0">
                          <a:solidFill>
                            <a:srgbClr val="000000"/>
                          </a:solidFill>
                          <a:latin typeface="微软雅黑"/>
                          <a:ea typeface="微软雅黑"/>
                        </a:rPr>
                        <a:t>、快递</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购买</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印制</a:t>
                      </a:r>
                      <a:r>
                        <a:rPr lang="en-US" altLang="zh-CN" sz="700" b="0" i="0">
                          <a:solidFill>
                            <a:srgbClr val="000000"/>
                          </a:solidFill>
                          <a:latin typeface="微软雅黑"/>
                          <a:ea typeface="微软雅黑"/>
                        </a:rPr>
                        <a:t>logo</a:t>
                      </a:r>
                      <a:endParaRPr lang="en-US" altLang="zh-CN"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快递 发出</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快递 抵达</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4790">
                <a:tc>
                  <a:txBody>
                    <a:bodyPr/>
                    <a:p>
                      <a:pPr algn="ctr" fontAlgn="ctr"/>
                      <a:r>
                        <a:rPr lang="zh-CN" altLang="en-US" sz="700" b="0" i="0">
                          <a:solidFill>
                            <a:srgbClr val="000000"/>
                          </a:solidFill>
                          <a:latin typeface="微软雅黑"/>
                          <a:ea typeface="微软雅黑"/>
                        </a:rPr>
                        <a:t>安全承诺书</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撰写、签署</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撰写确认</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签署安全承诺书</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65100">
                <a:tc>
                  <a:txBody>
                    <a:bodyPr/>
                    <a:p>
                      <a:pPr algn="ctr" fontAlgn="ctr"/>
                      <a:r>
                        <a:rPr lang="zh-CN" altLang="en-US" sz="700" b="0" i="0">
                          <a:solidFill>
                            <a:srgbClr val="000000"/>
                          </a:solidFill>
                          <a:latin typeface="微软雅黑"/>
                          <a:ea typeface="微软雅黑"/>
                        </a:rPr>
                        <a:t>机票</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往返机票购买</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p>
                      <a:pPr algn="ctr" fontAlgn="ctr"/>
                      <a:r>
                        <a:rPr lang="zh-CN" altLang="en-US" sz="700" b="0" i="0">
                          <a:solidFill>
                            <a:srgbClr val="000000"/>
                          </a:solidFill>
                          <a:latin typeface="微软雅黑"/>
                          <a:ea typeface="微软雅黑"/>
                        </a:rPr>
                        <a:t>收集机票信息</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a:txBody>
                    <a:bodyPr/>
                    <a:p>
                      <a:pPr algn="ctr" fontAlgn="ctr"/>
                      <a:r>
                        <a:rPr lang="zh-CN" altLang="en-US" sz="700" b="0" i="0">
                          <a:solidFill>
                            <a:srgbClr val="000000"/>
                          </a:solidFill>
                          <a:latin typeface="微软雅黑"/>
                          <a:ea typeface="微软雅黑"/>
                        </a:rPr>
                        <a:t>购买</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73355">
                <a:tc>
                  <a:txBody>
                    <a:bodyPr/>
                    <a:p>
                      <a:pPr algn="ctr" fontAlgn="ctr"/>
                      <a:r>
                        <a:rPr lang="zh-CN" altLang="en-US" sz="700" b="0" i="0">
                          <a:solidFill>
                            <a:srgbClr val="000000"/>
                          </a:solidFill>
                          <a:latin typeface="微软雅黑"/>
                          <a:ea typeface="微软雅黑"/>
                        </a:rPr>
                        <a:t>酒店</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预定、付款、</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方案</a:t>
                      </a:r>
                      <a:r>
                        <a:rPr lang="zh-CN" altLang="en-US" sz="700" b="0" i="0">
                          <a:solidFill>
                            <a:srgbClr val="000000"/>
                          </a:solidFill>
                          <a:latin typeface="微软雅黑"/>
                          <a:ea typeface="微软雅黑"/>
                        </a:rPr>
                        <a:t>汇报</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确认</a:t>
                      </a:r>
                      <a:r>
                        <a:rPr lang="en-US" altLang="zh-CN" sz="700" b="0" i="0">
                          <a:solidFill>
                            <a:srgbClr val="000000"/>
                          </a:solidFill>
                          <a:latin typeface="微软雅黑"/>
                          <a:ea typeface="微软雅黑"/>
                        </a:rPr>
                        <a:t>、</a:t>
                      </a:r>
                      <a:r>
                        <a:rPr lang="zh-CN" altLang="en-US" sz="700" b="0" i="0">
                          <a:solidFill>
                            <a:srgbClr val="000000"/>
                          </a:solidFill>
                          <a:latin typeface="微软雅黑"/>
                          <a:ea typeface="微软雅黑"/>
                        </a:rPr>
                        <a:t>预定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付款</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65100">
                <a:tc rowSpan="2">
                  <a:txBody>
                    <a:bodyPr/>
                    <a:p>
                      <a:pPr algn="ctr" fontAlgn="ctr"/>
                      <a:r>
                        <a:rPr lang="zh-CN" altLang="en-US" sz="700" b="0" i="0">
                          <a:solidFill>
                            <a:srgbClr val="000000"/>
                          </a:solidFill>
                          <a:latin typeface="微软雅黑"/>
                          <a:ea typeface="微软雅黑"/>
                        </a:rPr>
                        <a:t>传播</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传播素材</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制作</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最终确认</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651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r>
                        <a:rPr lang="zh-CN" altLang="en-US" sz="700" b="0" i="0">
                          <a:solidFill>
                            <a:srgbClr val="000000"/>
                          </a:solidFill>
                          <a:latin typeface="微软雅黑"/>
                          <a:ea typeface="微软雅黑"/>
                        </a:rPr>
                        <a:t>媒体传播</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p>
                      <a:pPr algn="ctr" fontAlgn="ctr"/>
                      <a:r>
                        <a:rPr lang="zh-CN" altLang="en-US" sz="700" b="0" i="0">
                          <a:solidFill>
                            <a:srgbClr val="000000"/>
                          </a:solidFill>
                          <a:latin typeface="微软雅黑"/>
                          <a:ea typeface="微软雅黑"/>
                        </a:rPr>
                        <a:t>发布</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bl>
          </a:graphicData>
        </a:graphic>
      </p:graphicFrame>
    </p:spTree>
  </p:cSld>
  <p:clrMapOvr>
    <a:masterClrMapping/>
  </p:clrMapOvr>
</p:sld>
</file>

<file path=ppt/tags/tag1.xml><?xml version="1.0" encoding="utf-8"?>
<p:tagLst xmlns:p="http://schemas.openxmlformats.org/presentationml/2006/main">
  <p:tag name="TABLE_ENDDRAG_ORIGIN_RECT" val="529*177"/>
  <p:tag name="TABLE_ENDDRAG_RECT" val="7*534*529*177"/>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1281</Words>
  <Application>WPS 表格</Application>
  <PresentationFormat>A4 纸张(210x297 毫米)</PresentationFormat>
  <Paragraphs>255</Paragraphs>
  <Slides>1</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vt:i4>
      </vt:variant>
    </vt:vector>
  </HeadingPairs>
  <TitlesOfParts>
    <vt:vector size="18" baseType="lpstr">
      <vt:lpstr>Arial</vt:lpstr>
      <vt:lpstr>宋体</vt:lpstr>
      <vt:lpstr>Wingdings</vt:lpstr>
      <vt:lpstr>微软雅黑</vt:lpstr>
      <vt:lpstr>汉仪旗黑</vt:lpstr>
      <vt:lpstr>微软雅黑</vt:lpstr>
      <vt:lpstr>微软雅黑</vt:lpstr>
      <vt:lpstr>Calibri</vt:lpstr>
      <vt:lpstr>Helvetica Neue</vt:lpstr>
      <vt:lpstr>宋体</vt:lpstr>
      <vt:lpstr>Arial Unicode MS</vt:lpstr>
      <vt:lpstr>Calibri Light</vt:lpstr>
      <vt:lpstr>等线 Light</vt:lpstr>
      <vt:lpstr>汉仪中等线KW</vt:lpstr>
      <vt:lpstr>等线</vt:lpstr>
      <vt:lpstr>汉仪书宋二KW</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Fu,Tina</dc:creator>
  <cp:lastModifiedBy>C</cp:lastModifiedBy>
  <cp:revision>196</cp:revision>
  <cp:lastPrinted>2024-10-21T08:03:12Z</cp:lastPrinted>
  <dcterms:created xsi:type="dcterms:W3CDTF">2024-10-21T08:03:12Z</dcterms:created>
  <dcterms:modified xsi:type="dcterms:W3CDTF">2024-10-21T08:03:12Z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76426FB507370CDF0F3D156590FED9C2_42</vt:lpwstr>
  </property>
  <property fmtid="{D5CDD505-2E9C-101B-9397-08002B2CF9AE}" pid="3" name="KSOProductBuildVer">
    <vt:lpwstr>2052-6.11.0.8885</vt:lpwstr>
  </property>
</Properties>
</file>