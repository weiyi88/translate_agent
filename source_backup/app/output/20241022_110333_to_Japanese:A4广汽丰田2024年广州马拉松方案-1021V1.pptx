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6858000" cy="9906000" type="A4"/>
  <p:notesSz cx="6797675" cy="992632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guide id="2" pos="2154" userDrawn="1">
          <p15:clr>
            <a:srgbClr val="A4A3A4"/>
          </p15:clr>
        </p15:guide>
        <p15:guide id="1" orient="horz" pos="35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41"/>
    <p:restoredTop sz="94651"/>
  </p:normalViewPr>
  <p:slideViewPr>
    <p:cSldViewPr snapToGrid="0" showGuides="1">
      <p:cViewPr>
        <p:scale>
          <a:sx n="70" d="100"/>
          <a:sy n="70" d="100"/>
        </p:scale>
        <p:origin x="1876" y="24"/>
      </p:cViewPr>
      <p:guideLst>
        <p:guide orient="horz" pos="3120"/>
        <p:guide pos="2160"/>
        <p:guide pos="2154"/>
        <p:guide orient="horz" pos="352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4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040"/>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0942" y="1240790"/>
            <a:ext cx="5955792" cy="335013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042"/>
            <a:ext cx="5438140" cy="3908489"/>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428281"/>
            <a:ext cx="2945659" cy="498039"/>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28281"/>
            <a:ext cx="2945659" cy="498039"/>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471488" y="2637014"/>
            <a:ext cx="2914650" cy="628526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3471863" y="2637014"/>
            <a:ext cx="2914650" cy="628526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472381" y="3618442"/>
            <a:ext cx="2901255" cy="532218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3471863" y="3618442"/>
            <a:ext cx="2915543" cy="532218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471488" y="527403"/>
            <a:ext cx="4350544" cy="8394877"/>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F37F35-7E93-438C-82FE-5159578901D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A72FCBAF-B745-4BDB-93F5-C5A02A48C60B}" type="datetimeFigureOut">
              <a:rPr lang="zh-CN" altLang="en-US" smtClean="0"/>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7AF37F35-7E93-438C-82FE-5159578901D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3567" y="206760"/>
            <a:ext cx="3954780" cy="337185"/>
          </a:xfrm>
          <a:prstGeom prst="rect">
            <a:avLst/>
          </a:prstGeom>
          <a:noFill/>
        </p:spPr>
        <p:txBody>
          <a:bodyPr wrap="none" rtlCol="0">
            <a:spAutoFit/>
          </a:bodyPr>
          <a:lstStyle/>
          <a:p>
            <a:r>
              <a:rPr sz="1600" b="1">
                <a:latin typeface="微软雅黑"/>
              </a:rPr>
              <a:t>広汽トヨタ2024年広州マラソンPR実行プラン</a:t>
            </a:r>
          </a:p>
        </p:txBody>
      </p:sp>
      <p:sp>
        <p:nvSpPr>
          <p:cNvPr id="5" name="矩形 4"/>
          <p:cNvSpPr/>
          <p:nvPr/>
        </p:nvSpPr>
        <p:spPr>
          <a:xfrm>
            <a:off x="1" y="551385"/>
            <a:ext cx="6858000" cy="23791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100" b="1">
                <a:latin typeface="微软雅黑"/>
              </a:rPr>
              <a:t>一、プロジェクトの背景</a:t>
            </a:r>
          </a:p>
        </p:txBody>
      </p:sp>
      <p:sp>
        <p:nvSpPr>
          <p:cNvPr id="6" name="矩形 5"/>
          <p:cNvSpPr/>
          <p:nvPr/>
        </p:nvSpPr>
        <p:spPr>
          <a:xfrm>
            <a:off x="0" y="791210"/>
            <a:ext cx="6858000" cy="1185545"/>
          </a:xfrm>
          <a:prstGeom prst="rect">
            <a:avLst/>
          </a:prstGeom>
          <a:ln>
            <a:solidFill>
              <a:schemeClr val="tx1"/>
            </a:solidFill>
          </a:ln>
        </p:spPr>
        <p:txBody>
          <a:bodyPr wrap="square">
            <a:noAutofit/>
          </a:bodyPr>
          <a:lstStyle/>
          <a:p>
            <a:pPr>
              <a:lnSpc>
                <a:spcPts val="1500"/>
              </a:lnSpc>
            </a:pPr>
            <a:r>
              <a:rPr sz="900" lang="en-US">
                <a:solidFill>
                  <a:srgbClr val="000000"/>
                </a:solidFill>
                <a:latin typeface="微软雅黑"/>
              </a:rPr>
              <a:t>1、ブランド理念の伝達：2024年広州マラソンは12月8日（日曜日）にスタートし、広汽トヨタは引き続き広州マラソンの冠スポンサーとして協力し、広州マラソンの挑戦する精神、自分を超越する精神を借りて、広汽トヨタの卓越性を追求し、不断に進取し革新するブランド理念を展示します。</a:t>
            </a:r>
          </a:p>
          <a:p>
            <a:r>
              <a:t>2、【豊ランニングチーム】の運営：広汽トヨタはスポーツマーケティングに深く根ざしており、長期的に革新と多元的な探求を堅持するだけでなく、広汽トヨタ20周年の際に【豊ランニングチーム】の運営を継続し、スポーツ精神と広汽トヨタの長期主義の高度な融合を体現し、メディア関係の長期的な維持を強化し、広州マラソンと広汽トヨタの外部影響を持続的に拡大します。</a:t>
            </a:r>
          </a:p>
          <a:p>
            <a:r>
              <a:t>3、費用の最適化：軽運営、会場および物品費用の多プラットフォーム、多チャネルの価格比較管理などの方法を通じて費用を最適化改善し、24年の参加人数は23年より4人減少し、全体の費用は11%減少しましたが、接待基準は従来のレベルを維持しています。</a:t>
            </a:r>
          </a:p>
        </p:txBody>
      </p:sp>
      <p:sp>
        <p:nvSpPr>
          <p:cNvPr id="13" name="文本框 12"/>
          <p:cNvSpPr txBox="1"/>
          <p:nvPr/>
        </p:nvSpPr>
        <p:spPr>
          <a:xfrm>
            <a:off x="8982" y="5773276"/>
            <a:ext cx="6839491" cy="968375"/>
          </a:xfrm>
          <a:prstGeom prst="rect">
            <a:avLst/>
          </a:prstGeom>
          <a:noFill/>
          <a:ln>
            <a:solidFill>
              <a:schemeClr val="tx1"/>
            </a:solidFill>
          </a:ln>
        </p:spPr>
        <p:txBody>
          <a:bodyPr wrap="square" rtlCol="0">
            <a:spAutoFit/>
          </a:bodyPr>
          <a:lstStyle/>
          <a:p>
            <a:r>
              <a:rPr sz="900" b="1">
                <a:latin typeface="微软雅黑"/>
              </a:rPr>
              <a:t>メディア伝播計画：</a:t>
            </a:r>
          </a:p>
          <a:p>
            <a:r>
              <a:t>1.広汽トヨタメディアランニングチーム50社50人の友達圏拡散活動素材を提供し、広汽トヨタの20周年イメージおよびスマート化計画を強化します。</a:t>
            </a:r>
          </a:p>
          <a:p>
            <a:r>
              <a:t>2.全ネットで50社のメディアに記事を掲載し、競技会の権利を最大限に利用して広汽トヨタのブランドイメージを向上させ、地域の販売を支援します。</a:t>
            </a:r>
          </a:p>
          <a:p>
            <a:r>
              <a:t>3.大湾区のKOLインフルエンサーの伝播費用を増やし、広州マラソンの短編動画の二次創作露出を増やし、【豊ランニングチーム】を通じて広汽トヨタ20周年のイメージを豊かにし、ブランド影響力を高めます。</a:t>
            </a:r>
          </a:p>
        </p:txBody>
      </p:sp>
      <p:graphicFrame>
        <p:nvGraphicFramePr>
          <p:cNvPr id="21" name="表格 20"/>
          <p:cNvGraphicFramePr>
            <a:graphicFrameLocks noGrp="1"/>
          </p:cNvGraphicFramePr>
          <p:nvPr>
            <p:custDataLst>
              <p:tags r:id="rId1"/>
            </p:custDataLst>
          </p:nvPr>
        </p:nvGraphicFramePr>
        <p:xfrm>
          <a:off x="-1" y="9305333"/>
          <a:ext cx="6866984" cy="509300"/>
        </p:xfrm>
        <a:graphic>
          <a:graphicData uri="http://schemas.openxmlformats.org/drawingml/2006/table">
            <a:tbl>
              <a:tblPr/>
              <a:tblGrid>
                <a:gridCol w="531048"/>
                <a:gridCol w="1679575"/>
                <a:gridCol w="1383030"/>
                <a:gridCol w="1276985"/>
                <a:gridCol w="1996346"/>
              </a:tblGrid>
              <a:tr h="252150">
                <a:tc rowSpan="2">
                  <a:txBody>
                    <a:bodyPr/>
                    <a:lstStyle/>
                    <a:p>
                      <a:r>
                        <a:rPr sz="900" b="1" i="0" u="none">
                          <a:latin typeface="微软雅黑"/>
                        </a:rPr>
                        <a:t>費用</a:t>
                      </a: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i="0" u="none">
                          <a:latin typeface="微软雅黑"/>
                        </a:rPr>
                        <a:t>メディア費用</a:t>
                      </a: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i="0" u="none">
                          <a:latin typeface="微软雅黑"/>
                        </a:rPr>
                        <a:t>PR会社費用</a:t>
                      </a: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i="0" u="none">
                          <a:latin typeface="微软雅黑"/>
                        </a:rPr>
                        <a:t>税金</a:t>
                      </a: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sz="900" b="0" i="0" u="none">
                          <a:latin typeface="微软雅黑"/>
                        </a:rPr>
                        <a:t>合計</a:t>
                      </a: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7150">
                <a:tc vMerge="1">
                  <a:txBody>
                    <a:bodyPr/>
                    <a:p/>
                  </a:txBody>
                  <a:tcPr/>
                </a:tc>
                <a:tc>
                  <a:txBody>
                    <a:bodyPr/>
                    <a:lstStyle/>
                    <a:p>
                      <a:r>
                        <a:rPr sz="900" b="0" i="0" u="none">
                          <a:latin typeface="微软雅黑"/>
                        </a:rPr>
                        <a:t>75万元</a:t>
                      </a: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i="0" u="none">
                          <a:latin typeface="微软雅黑"/>
                        </a:rPr>
                        <a:t>5万元</a:t>
                      </a: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900" b="0" i="0" u="none">
                          <a:latin typeface="微软雅黑"/>
                        </a:rPr>
                        <a:t>4.8万元</a:t>
                      </a:r>
                    </a:p>
                  </a:txBody>
                  <a:tcPr marL="4668" marR="4668" marT="466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a:r>
                        <a:rPr sz="900" b="0" lang="en-US">
                          <a:solidFill>
                            <a:srgbClr val="000000"/>
                          </a:solidFill>
                          <a:latin typeface="微软雅黑"/>
                        </a:rPr>
                        <a:t>84.8万元</a:t>
                      </a:r>
                    </a:p>
                  </a:txBody>
                  <a:tcPr marL="12700" marR="12700" marT="12700" vert="horz"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2" name="矩形 21"/>
          <p:cNvSpPr/>
          <p:nvPr/>
        </p:nvSpPr>
        <p:spPr>
          <a:xfrm>
            <a:off x="-1" y="9087549"/>
            <a:ext cx="6858000" cy="20827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sz="1100" b="1">
                <a:latin typeface="微软雅黑"/>
              </a:rPr>
              <a:t>六、費用</a:t>
            </a:r>
          </a:p>
        </p:txBody>
      </p:sp>
      <p:sp>
        <p:nvSpPr>
          <p:cNvPr id="14" name="矩形 13"/>
          <p:cNvSpPr/>
          <p:nvPr/>
        </p:nvSpPr>
        <p:spPr>
          <a:xfrm>
            <a:off x="0" y="5600640"/>
            <a:ext cx="6858000" cy="2474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100" b="1">
                <a:latin typeface="微软雅黑"/>
              </a:rPr>
              <a:t>四、伝播計画</a:t>
            </a:r>
          </a:p>
        </p:txBody>
      </p:sp>
      <p:sp>
        <p:nvSpPr>
          <p:cNvPr id="15" name="矩形 14"/>
          <p:cNvSpPr/>
          <p:nvPr/>
        </p:nvSpPr>
        <p:spPr>
          <a:xfrm>
            <a:off x="2967" y="6561475"/>
            <a:ext cx="6858000" cy="19075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100" b="1">
                <a:latin typeface="微软雅黑"/>
              </a:rPr>
              <a:t>五、推進計画</a:t>
            </a:r>
          </a:p>
        </p:txBody>
      </p:sp>
      <p:sp>
        <p:nvSpPr>
          <p:cNvPr id="16" name="矩形 15"/>
          <p:cNvSpPr/>
          <p:nvPr/>
        </p:nvSpPr>
        <p:spPr>
          <a:xfrm>
            <a:off x="0" y="4727575"/>
            <a:ext cx="6858000" cy="812800"/>
          </a:xfrm>
          <a:prstGeom prst="rect">
            <a:avLst/>
          </a:prstGeom>
          <a:ln>
            <a:solidFill>
              <a:schemeClr val="tx1"/>
            </a:solidFill>
          </a:ln>
        </p:spPr>
        <p:txBody>
          <a:bodyPr wrap="square">
            <a:noAutofit/>
          </a:bodyPr>
          <a:lstStyle/>
          <a:p>
            <a:r>
              <a:rPr sz="900">
                <a:latin typeface="微软雅黑"/>
              </a:rPr>
              <a:t>1.今回の広州マラソンは最新のメディアリストを参考にし、積極的にメディアに問い合わせ、過去に招待履歴のある（広州マラソン、厦門マラソン）メディアを基に、今年は全マラソンの枠を50人に設定しました。</a:t>
            </a:r>
          </a:p>
          <a:p>
            <a:r>
              <a:t>2.過去にマラソンに参加したことがあり、体力が良く、広汽トヨタとの関係が良好なメディアを選び、広州マラソンを契機にメディア関係を維持し、同時に広汽トヨタ20周年のブランドイメージを伝播し、新車の発売認知度を向上させます。</a:t>
            </a:r>
          </a:p>
          <a:p>
            <a:r>
              <a:t>3.現在、積極的に問い合わせたメディアは31社33人で、影響力のあるメディアを追加し、今後も適切なメディアを選定し続けます。</a:t>
            </a:r>
          </a:p>
        </p:txBody>
      </p:sp>
      <p:sp>
        <p:nvSpPr>
          <p:cNvPr id="20" name="矩形 19"/>
          <p:cNvSpPr/>
          <p:nvPr/>
        </p:nvSpPr>
        <p:spPr>
          <a:xfrm>
            <a:off x="8983" y="1979225"/>
            <a:ext cx="6858000" cy="2474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100" b="1">
                <a:latin typeface="微软雅黑"/>
              </a:rPr>
              <a:t>二、実行計画</a:t>
            </a:r>
          </a:p>
        </p:txBody>
      </p:sp>
      <p:sp>
        <p:nvSpPr>
          <p:cNvPr id="17" name="矩形 16"/>
          <p:cNvSpPr/>
          <p:nvPr/>
        </p:nvSpPr>
        <p:spPr>
          <a:xfrm>
            <a:off x="6197069" y="47657"/>
            <a:ext cx="612000" cy="234052"/>
          </a:xfrm>
          <a:prstGeom prst="rect">
            <a:avLst/>
          </a:prstGeom>
          <a:ln w="19050">
            <a:solidFill>
              <a:srgbClr val="C00000"/>
            </a:solidFill>
          </a:ln>
        </p:spPr>
        <p:style>
          <a:lnRef idx="2">
            <a:schemeClr val="accent6"/>
          </a:lnRef>
          <a:fillRef idx="1">
            <a:schemeClr val="lt1"/>
          </a:fillRef>
          <a:effectRef idx="0">
            <a:schemeClr val="accent6"/>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sz="800" b="1" lang="zh-CN">
                <a:solidFill>
                  <a:srgbClr val="C00000"/>
                </a:solidFill>
                <a:latin typeface="微软雅黑"/>
              </a:rPr>
              <a:t>内部資料</a:t>
            </a:r>
          </a:p>
        </p:txBody>
      </p:sp>
      <p:sp>
        <p:nvSpPr>
          <p:cNvPr id="2" name="矩形 1"/>
          <p:cNvSpPr/>
          <p:nvPr/>
        </p:nvSpPr>
        <p:spPr>
          <a:xfrm>
            <a:off x="888365" y="2280920"/>
            <a:ext cx="5447665" cy="422275"/>
          </a:xfrm>
          <a:prstGeom prst="rect">
            <a:avLst/>
          </a:prstGeom>
          <a:solidFill>
            <a:srgbClr val="C00000"/>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r>
              <a:rPr sz="1000" b="1">
                <a:latin typeface="微软雅黑"/>
              </a:rPr>
              <a:t>広汽トヨタ【豊ランニングチーム】を継続運営し、オフライン活動を通じてオンライン伝播を促進し、広汽トヨタのブランド伝播の声量を高めます</a:t>
            </a:r>
          </a:p>
        </p:txBody>
      </p:sp>
      <p:grpSp>
        <p:nvGrpSpPr>
          <p:cNvPr id="8" name="组合 7"/>
          <p:cNvGrpSpPr/>
          <p:nvPr/>
        </p:nvGrpSpPr>
        <p:grpSpPr>
          <a:xfrm>
            <a:off x="322580" y="2768776"/>
            <a:ext cx="3107055" cy="1653498"/>
            <a:chOff x="508" y="4232"/>
            <a:chExt cx="3760" cy="2769"/>
          </a:xfrm>
        </p:grpSpPr>
        <p:sp>
          <p:nvSpPr>
            <p:cNvPr id="9" name="矩形 8"/>
            <p:cNvSpPr/>
            <p:nvPr/>
          </p:nvSpPr>
          <p:spPr>
            <a:xfrm>
              <a:off x="740" y="4628"/>
              <a:ext cx="3242" cy="2373"/>
            </a:xfrm>
            <a:prstGeom prst="rect">
              <a:avLst/>
            </a:prstGeom>
            <a:noFill/>
            <a:ln w="9525">
              <a:solidFill>
                <a:srgbClr val="C00000"/>
              </a:solidFill>
            </a:ln>
            <a:extLst>
              <a:ext uri="{909E8E84-426E-40DD-AFC4-6F175D3DCCD1}">
                <a14:hiddenFill xmlns:a14="http://schemas.microsoft.com/office/drawing/2010/main">
                  <a:solidFill>
                    <a:srgbClr val="C0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508" y="4232"/>
              <a:ext cx="3760" cy="737"/>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r>
                <a:rPr sz="1200">
                  <a:latin typeface="微软雅黑"/>
                </a:rPr>
                <a:t>オフラインでメディアと深くリンクし、ブランドの評判の堀を固めます</a:t>
              </a:r>
            </a:p>
          </p:txBody>
        </p:sp>
        <p:sp>
          <p:nvSpPr>
            <p:cNvPr id="12" name="文本框 11"/>
            <p:cNvSpPr txBox="1"/>
            <p:nvPr/>
          </p:nvSpPr>
          <p:spPr>
            <a:xfrm>
              <a:off x="757" y="4897"/>
              <a:ext cx="3225" cy="2057"/>
            </a:xfrm>
            <a:prstGeom prst="rect">
              <a:avLst/>
            </a:prstGeom>
            <a:noFill/>
          </p:spPr>
          <p:txBody>
            <a:bodyPr wrap="square" rtlCol="0">
              <a:noAutofit/>
            </a:bodyPr>
            <a:p>
              <a:r>
                <a:rPr sz="1000">
                  <a:latin typeface="微软雅黑"/>
                </a:rPr>
                <a:t>メディアを広州マラソンに招待し、ランニングチームのメディアが広汽トヨタの現場のスマート化計画および広州モーターショーの要素内容を体験し、オフライン活動を通じてメディアと深くリンクし、展示会の案内と記念品のスタンプラリーを通じてメディアの参加感を最大化し、長期的な友好関係を維持します。</a:t>
              </a:r>
            </a:p>
          </p:txBody>
        </p:sp>
      </p:grpSp>
      <p:grpSp>
        <p:nvGrpSpPr>
          <p:cNvPr id="18" name="组合 17"/>
          <p:cNvGrpSpPr/>
          <p:nvPr/>
        </p:nvGrpSpPr>
        <p:grpSpPr>
          <a:xfrm>
            <a:off x="3669665" y="2767602"/>
            <a:ext cx="3017520" cy="1652985"/>
            <a:chOff x="6075" y="4178"/>
            <a:chExt cx="3760" cy="2773"/>
          </a:xfrm>
        </p:grpSpPr>
        <p:sp>
          <p:nvSpPr>
            <p:cNvPr id="11" name="矩形 10"/>
            <p:cNvSpPr/>
            <p:nvPr/>
          </p:nvSpPr>
          <p:spPr>
            <a:xfrm>
              <a:off x="6296" y="4628"/>
              <a:ext cx="3382" cy="2323"/>
            </a:xfrm>
            <a:prstGeom prst="rect">
              <a:avLst/>
            </a:prstGeom>
            <a:noFill/>
            <a:ln w="9525">
              <a:solidFill>
                <a:srgbClr val="C00000"/>
              </a:solidFill>
            </a:ln>
            <a:extLst>
              <a:ext uri="{909E8E84-426E-40DD-AFC4-6F175D3DCCD1}">
                <a14:hiddenFill xmlns:a14="http://schemas.microsoft.com/office/drawing/2010/main">
                  <a:solidFill>
                    <a:srgbClr val="C0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6075" y="4178"/>
              <a:ext cx="3760" cy="755"/>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r>
                <a:rPr sz="1200">
                  <a:latin typeface="微软雅黑"/>
                </a:rPr>
                <a:t>重点車種の伝播声量を強化し、販売転換を支援します</a:t>
              </a:r>
            </a:p>
          </p:txBody>
        </p:sp>
        <p:sp>
          <p:nvSpPr>
            <p:cNvPr id="24" name="文本框 23"/>
            <p:cNvSpPr txBox="1"/>
            <p:nvPr/>
          </p:nvSpPr>
          <p:spPr>
            <a:xfrm>
              <a:off x="6313" y="4852"/>
              <a:ext cx="3344" cy="2089"/>
            </a:xfrm>
            <a:prstGeom prst="rect">
              <a:avLst/>
            </a:prstGeom>
            <a:noFill/>
          </p:spPr>
          <p:txBody>
            <a:bodyPr wrap="square" rtlCol="0">
              <a:spAutoFit/>
            </a:bodyPr>
            <a:p>
              <a:r>
                <a:rPr sz="1000">
                  <a:latin typeface="微软雅黑"/>
                </a:rPr>
                <a:t>ランニングチームのメディアの伝播チャネルを通じて、現場活動の雰囲気と展示される重点車種の情報を伝え、ユーザーが広州マラソンと広汽トヨタの新車情報に注目するよう引き付け、ブランドの声量を高めるとともに、新車の認知度を向上させます。</a:t>
              </a:r>
            </a:p>
          </p:txBody>
        </p:sp>
      </p:grpSp>
      <p:sp>
        <p:nvSpPr>
          <p:cNvPr id="19" name="矩形 18"/>
          <p:cNvSpPr/>
          <p:nvPr/>
        </p:nvSpPr>
        <p:spPr>
          <a:xfrm>
            <a:off x="-9432" y="4444295"/>
            <a:ext cx="6858000" cy="2474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r>
              <a:rPr sz="1100" b="1">
                <a:latin typeface="微软雅黑"/>
              </a:rPr>
              <a:t>三、メディア選定戦略</a:t>
            </a:r>
          </a:p>
        </p:txBody>
      </p:sp>
      <p:graphicFrame>
        <p:nvGraphicFramePr>
          <p:cNvPr id="23" name="表格 22"/>
          <p:cNvGraphicFramePr/>
          <p:nvPr/>
        </p:nvGraphicFramePr>
        <p:xfrm>
          <a:off x="88900" y="6790055"/>
          <a:ext cx="6719570" cy="2262505"/>
        </p:xfrm>
        <a:graphic>
          <a:graphicData uri="http://schemas.openxmlformats.org/drawingml/2006/table">
            <a:tbl>
              <a:tblPr/>
              <a:tblGrid>
                <a:gridCol w="637540"/>
                <a:gridCol w="1283970"/>
                <a:gridCol w="620395"/>
                <a:gridCol w="784860"/>
                <a:gridCol w="536575"/>
                <a:gridCol w="869315"/>
                <a:gridCol w="653415"/>
                <a:gridCol w="430530"/>
                <a:gridCol w="462280"/>
                <a:gridCol w="440690"/>
              </a:tblGrid>
              <a:tr h="165100">
                <a:tc rowSpan="2">
                  <a:txBody>
                    <a:bodyPr/>
                    <a:p>
                      <a:pPr algn="ctr"/>
                      <a:r>
                        <a:rPr sz="700" b="0" i="0" lang="zh-CN">
                          <a:solidFill>
                            <a:srgbClr val="000000"/>
                          </a:solidFill>
                          <a:latin typeface="微软雅黑"/>
                        </a:rPr>
                        <a:t>プロジェクト</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2">
                  <a:txBody>
                    <a:bodyPr/>
                    <a:p>
                      <a:pPr algn="ctr"/>
                      <a:r>
                        <a:rPr sz="700" b="0" i="0" lang="zh-CN">
                          <a:solidFill>
                            <a:srgbClr val="000000"/>
                          </a:solidFill>
                          <a:latin typeface="微软雅黑"/>
                        </a:rPr>
                        <a:t>内容</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4">
                  <a:txBody>
                    <a:bodyPr/>
                    <a:p>
                      <a:pPr algn="ctr"/>
                      <a:r>
                        <a:rPr sz="700" b="0" i="0" lang="en-US">
                          <a:solidFill>
                            <a:srgbClr val="000000"/>
                          </a:solidFill>
                          <a:latin typeface="微软雅黑"/>
                        </a:rPr>
                        <a:t>11月</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4">
                  <a:txBody>
                    <a:bodyPr/>
                    <a:p>
                      <a:pPr algn="ctr"/>
                      <a:r>
                        <a:rPr sz="700" b="0" i="0" lang="en-US">
                          <a:solidFill>
                            <a:srgbClr val="000000"/>
                          </a:solidFill>
                          <a:latin typeface="微软雅黑"/>
                        </a:rPr>
                        <a:t>12月</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65100">
                <a:tc vMerge="1">
                  <a:txBody>
                    <a:body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xBody>
                    <a:body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a:r>
                        <a:rPr sz="700" b="0" i="0" lang="en-US">
                          <a:solidFill>
                            <a:srgbClr val="000000"/>
                          </a:solidFill>
                          <a:latin typeface="微软雅黑"/>
                        </a:rPr>
                        <a:t>第1週</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en-US">
                          <a:solidFill>
                            <a:srgbClr val="000000"/>
                          </a:solidFill>
                          <a:latin typeface="微软雅黑"/>
                        </a:rPr>
                        <a:t>第2週</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en-US">
                          <a:solidFill>
                            <a:srgbClr val="000000"/>
                          </a:solidFill>
                          <a:latin typeface="微软雅黑"/>
                        </a:rPr>
                        <a:t>第3週</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en-US">
                          <a:solidFill>
                            <a:srgbClr val="000000"/>
                          </a:solidFill>
                          <a:latin typeface="微软雅黑"/>
                        </a:rPr>
                        <a:t>第4週</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en-US">
                          <a:solidFill>
                            <a:srgbClr val="000000"/>
                          </a:solidFill>
                          <a:latin typeface="微软雅黑"/>
                        </a:rPr>
                        <a:t>第1週</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en-US">
                          <a:solidFill>
                            <a:srgbClr val="000000"/>
                          </a:solidFill>
                          <a:latin typeface="微软雅黑"/>
                        </a:rPr>
                        <a:t>第2週</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en-US">
                          <a:solidFill>
                            <a:srgbClr val="000000"/>
                          </a:solidFill>
                          <a:latin typeface="微软雅黑"/>
                        </a:rPr>
                        <a:t>第3週</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en-US">
                          <a:solidFill>
                            <a:srgbClr val="000000"/>
                          </a:solidFill>
                          <a:latin typeface="微软雅黑"/>
                        </a:rPr>
                        <a:t>第4週</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86690">
                <a:tc>
                  <a:txBody>
                    <a:bodyPr/>
                    <a:p>
                      <a:pPr algn="ctr"/>
                      <a:r>
                        <a:rPr sz="700" b="0" i="0" lang="zh-CN">
                          <a:solidFill>
                            <a:srgbClr val="000000"/>
                          </a:solidFill>
                          <a:latin typeface="微软雅黑"/>
                        </a:rPr>
                        <a:t>メディアリスト</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メディアリスト</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a:r>
                        <a:rPr sz="700" b="0" i="0" lang="zh-CN">
                          <a:solidFill>
                            <a:srgbClr val="000000"/>
                          </a:solidFill>
                          <a:latin typeface="微软雅黑"/>
                        </a:rPr>
                        <a:t>報告、修正、最終確認</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32410">
                <a:tc>
                  <a:txBody>
                    <a:bodyPr/>
                    <a:p>
                      <a:pPr algn="ctr"/>
                      <a:r>
                        <a:rPr sz="700" b="0" i="0" lang="zh-CN">
                          <a:solidFill>
                            <a:srgbClr val="000000"/>
                          </a:solidFill>
                          <a:latin typeface="微软雅黑"/>
                        </a:rPr>
                        <a:t>プラン</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実行内容、予算など</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a:r>
                        <a:rPr sz="700" lang="zh-CN">
                          <a:solidFill>
                            <a:srgbClr val="000000"/>
                          </a:solidFill>
                          <a:latin typeface="微软雅黑"/>
                        </a:rPr>
                        <a:t>報告、修正</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6">
                  <a:txBody>
                    <a:bodyPr/>
                    <a:p>
                      <a:pPr algn="ctr"/>
                      <a:r>
                        <a:rPr sz="700" b="0" i="0" lang="zh-CN">
                          <a:solidFill>
                            <a:srgbClr val="000000"/>
                          </a:solidFill>
                          <a:latin typeface="微软雅黑"/>
                        </a:rPr>
                        <a:t>広州マラソン当日</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0515">
                <a:tc>
                  <a:txBody>
                    <a:bodyPr/>
                    <a:p>
                      <a:pPr algn="ctr"/>
                      <a:r>
                        <a:rPr sz="700" b="0" i="0" lang="zh-CN">
                          <a:solidFill>
                            <a:srgbClr val="000000"/>
                          </a:solidFill>
                          <a:latin typeface="微软雅黑"/>
                        </a:rPr>
                        <a:t>メディアとのコミュニケーション</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参加の有無、スケジュール、装備サイズの確認</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a:r>
                        <a:rPr sz="700" b="0" i="0" lang="zh-CN">
                          <a:solidFill>
                            <a:srgbClr val="000000"/>
                          </a:solidFill>
                          <a:latin typeface="微软雅黑"/>
                        </a:rPr>
                        <a:t>メディアとのコミュニケーション</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xBody>
                    <a:body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09245">
                <a:tc>
                  <a:txBody>
                    <a:bodyPr/>
                    <a:p>
                      <a:pPr algn="ctr"/>
                      <a:r>
                        <a:rPr sz="700" b="0" i="0" lang="zh-CN">
                          <a:solidFill>
                            <a:srgbClr val="000000"/>
                          </a:solidFill>
                          <a:latin typeface="微软雅黑"/>
                        </a:rPr>
                        <a:t>装備</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確認、購入、ロゴの印刷、発送</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購入</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ロゴ印刷</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発送</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発送到着</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xBody>
                    <a:body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4790">
                <a:tc>
                  <a:txBody>
                    <a:bodyPr/>
                    <a:p>
                      <a:pPr algn="ctr"/>
                      <a:r>
                        <a:rPr sz="700" b="0" i="0" lang="zh-CN">
                          <a:solidFill>
                            <a:srgbClr val="000000"/>
                          </a:solidFill>
                          <a:latin typeface="微软雅黑"/>
                        </a:rPr>
                        <a:t>安全誓約書</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作成、署名</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作成確認</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安全誓約書の署名</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xBody>
                    <a:body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65100">
                <a:tc>
                  <a:txBody>
                    <a:bodyPr/>
                    <a:p>
                      <a:pPr algn="ctr"/>
                      <a:r>
                        <a:rPr sz="700" b="0" i="0" lang="zh-CN">
                          <a:solidFill>
                            <a:srgbClr val="000000"/>
                          </a:solidFill>
                          <a:latin typeface="微软雅黑"/>
                        </a:rPr>
                        <a:t>航空券</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往復航空券の購入</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algn="ctr"/>
                      <a:r>
                        <a:rPr sz="700" b="0" i="0" lang="zh-CN">
                          <a:solidFill>
                            <a:srgbClr val="000000"/>
                          </a:solidFill>
                          <a:latin typeface="微软雅黑"/>
                        </a:rPr>
                        <a:t>航空券情報の収集</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p>
                      <a:pPr algn="ctr"/>
                      <a:r>
                        <a:rPr sz="700" b="0" i="0" lang="zh-CN">
                          <a:solidFill>
                            <a:srgbClr val="000000"/>
                          </a:solidFill>
                          <a:latin typeface="微软雅黑"/>
                        </a:rPr>
                        <a:t>購入</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xBody>
                    <a:body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73355">
                <a:tc>
                  <a:txBody>
                    <a:bodyPr/>
                    <a:p>
                      <a:pPr algn="ctr"/>
                      <a:r>
                        <a:rPr sz="700" b="0" i="0" lang="zh-CN">
                          <a:solidFill>
                            <a:srgbClr val="000000"/>
                          </a:solidFill>
                          <a:latin typeface="微软雅黑"/>
                        </a:rPr>
                        <a:t>ホテル</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予約、支払い</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プラン報告</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確認、予約</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支払い</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xBody>
                    <a:body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endParaRPr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65100">
                <a:tc rowSpan="2">
                  <a:txBody>
                    <a:bodyPr/>
                    <a:p>
                      <a:pPr algn="ctr"/>
                      <a:r>
                        <a:rPr sz="700" b="0" i="0" lang="zh-CN">
                          <a:solidFill>
                            <a:srgbClr val="000000"/>
                          </a:solidFill>
                          <a:latin typeface="微软雅黑"/>
                        </a:rPr>
                        <a:t>伝播</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伝播素材</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作成</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a:r>
                        <a:rPr sz="700" b="0" i="0" lang="zh-CN">
                          <a:solidFill>
                            <a:srgbClr val="000000"/>
                          </a:solidFill>
                          <a:latin typeface="微软雅黑"/>
                        </a:rPr>
                        <a:t>最終確認</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65100">
                <a:tc vMerge="1">
                  <a:txBody>
                    <a:bodyPr/>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a:r>
                        <a:rPr sz="700" b="0" i="0" lang="zh-CN">
                          <a:solidFill>
                            <a:srgbClr val="000000"/>
                          </a:solidFill>
                          <a:latin typeface="微软雅黑"/>
                        </a:rPr>
                        <a:t>メディア伝播</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700" b="0" i="0">
                          <a:solidFill>
                            <a:srgbClr val="000000"/>
                          </a:solidFill>
                          <a:latin typeface="微软雅黑"/>
                          <a:ea typeface="微软雅黑"/>
                        </a:rPr>
                        <a:t>　</a:t>
                      </a:r>
                      <a:endParaRPr lang="zh-CN" altLang="en-US" sz="700" b="0" i="0">
                        <a:solidFill>
                          <a:srgbClr val="000000"/>
                        </a:solidFill>
                        <a:latin typeface="微软雅黑"/>
                        <a:ea typeface="微软雅黑"/>
                      </a:endParaRP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p>
                      <a:pPr algn="ctr"/>
                      <a:r>
                        <a:rPr sz="700" b="0" i="0" lang="zh-CN">
                          <a:solidFill>
                            <a:srgbClr val="000000"/>
                          </a:solidFill>
                          <a:latin typeface="微软雅黑"/>
                        </a:rPr>
                        <a:t>公開</a:t>
                      </a:r>
                    </a:p>
                  </a:txBody>
                  <a:tcPr marL="13017" marR="13017" marT="1301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bl>
          </a:graphicData>
        </a:graphic>
      </p:graphicFrame>
    </p:spTree>
  </p:cSld>
  <p:clrMapOvr>
    <a:masterClrMapping/>
  </p:clrMapOvr>
</p:sld>
</file>

<file path=ppt/tags/tag1.xml><?xml version="1.0" encoding="utf-8"?>
<p:tagLst xmlns:p="http://schemas.openxmlformats.org/presentationml/2006/main">
  <p:tag name="TABLE_ENDDRAG_ORIGIN_RECT" val="529*177"/>
  <p:tag name="TABLE_ENDDRAG_RECT" val="7*534*529*177"/>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1281</Words>
  <Application>WPS 表格</Application>
  <PresentationFormat>A4 纸张(210x297 毫米)</PresentationFormat>
  <Paragraphs>255</Paragraphs>
  <Slides>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vt:i4>
      </vt:variant>
    </vt:vector>
  </HeadingPairs>
  <TitlesOfParts>
    <vt:vector size="18" baseType="lpstr">
      <vt:lpstr>Arial</vt:lpstr>
      <vt:lpstr>宋体</vt:lpstr>
      <vt:lpstr>Wingdings</vt:lpstr>
      <vt:lpstr>微软雅黑</vt:lpstr>
      <vt:lpstr>汉仪旗黑</vt:lpstr>
      <vt:lpstr>微软雅黑</vt:lpstr>
      <vt:lpstr>微软雅黑</vt:lpstr>
      <vt:lpstr>Calibri</vt:lpstr>
      <vt:lpstr>Helvetica Neue</vt:lpstr>
      <vt:lpstr>宋体</vt:lpstr>
      <vt:lpstr>Arial Unicode MS</vt:lpstr>
      <vt:lpstr>Calibri Light</vt:lpstr>
      <vt:lpstr>等线 Light</vt:lpstr>
      <vt:lpstr>汉仪中等线KW</vt:lpstr>
      <vt:lpstr>等线</vt:lpstr>
      <vt:lpstr>汉仪书宋二KW</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Fu,Tina</dc:creator>
  <cp:lastModifiedBy>C</cp:lastModifiedBy>
  <cp:revision>196</cp:revision>
  <cp:lastPrinted>2024-10-21T08:03:12Z</cp:lastPrinted>
  <dcterms:created xsi:type="dcterms:W3CDTF">2024-10-21T08:03:12Z</dcterms:created>
  <dcterms:modified xsi:type="dcterms:W3CDTF">2024-10-21T08:03:12Z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76426FB507370CDF0F3D156590FED9C2_42</vt:lpwstr>
  </property>
  <property fmtid="{D5CDD505-2E9C-101B-9397-08002B2CF9AE}" pid="3" name="KSOProductBuildVer">
    <vt:lpwstr>2052-6.11.0.8885</vt:lpwstr>
  </property>
</Properties>
</file>